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8" r:id="rId3"/>
    <p:sldId id="259" r:id="rId4"/>
    <p:sldId id="260" r:id="rId5"/>
    <p:sldId id="261" r:id="rId6"/>
    <p:sldId id="262" r:id="rId7"/>
    <p:sldId id="257" r:id="rId8"/>
    <p:sldId id="264" r:id="rId9"/>
    <p:sldId id="265" r:id="rId10"/>
    <p:sldId id="267" r:id="rId11"/>
    <p:sldId id="266" r:id="rId12"/>
    <p:sldId id="270" r:id="rId13"/>
    <p:sldId id="272" r:id="rId14"/>
    <p:sldId id="271" r:id="rId15"/>
    <p:sldId id="278" r:id="rId16"/>
    <p:sldId id="274" r:id="rId17"/>
    <p:sldId id="273" r:id="rId18"/>
    <p:sldId id="275" r:id="rId19"/>
    <p:sldId id="276" r:id="rId20"/>
    <p:sldId id="268" r:id="rId21"/>
    <p:sldId id="277" r:id="rId22"/>
    <p:sldId id="26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hKuKgyKS0GBxgaUyqu/5mjyb+o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BB318C-1D3F-4AE9-AF49-1C76AB3AA438}">
  <a:tblStyle styleId="{82BB318C-1D3F-4AE9-AF49-1C76AB3AA43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93683" y="578069"/>
            <a:ext cx="10710041" cy="266697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IN" sz="6000" b="1" i="0" dirty="0">
                <a:solidFill>
                  <a:schemeClr val="dk1"/>
                </a:solidFill>
                <a:latin typeface="Times New Roman" panose="02020603050405020304" pitchFamily="18" charset="0"/>
                <a:cs typeface="Times New Roman" panose="02020603050405020304" pitchFamily="18" charset="0"/>
                <a:sym typeface="Calibri"/>
              </a:rPr>
              <a:t>DISEASE CLASSIFICATION OF MACULA OCT SCANS USING CNN</a:t>
            </a:r>
            <a:endParaRPr sz="4000" b="1" dirty="0">
              <a:latin typeface="Times New Roman" panose="02020603050405020304" pitchFamily="18" charset="0"/>
              <a:ea typeface="Times New Roman"/>
              <a:cs typeface="Times New Roman" panose="02020603050405020304" pitchFamily="18" charset="0"/>
              <a:sym typeface="Times New Roman"/>
            </a:endParaRPr>
          </a:p>
        </p:txBody>
      </p:sp>
      <p:sp>
        <p:nvSpPr>
          <p:cNvPr id="85" name="Google Shape;85;p1"/>
          <p:cNvSpPr txBox="1">
            <a:spLocks noGrp="1"/>
          </p:cNvSpPr>
          <p:nvPr>
            <p:ph type="subTitle" idx="1"/>
          </p:nvPr>
        </p:nvSpPr>
        <p:spPr>
          <a:xfrm>
            <a:off x="794037" y="4558892"/>
            <a:ext cx="4886700" cy="16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IN" sz="2400" b="0" i="0" dirty="0" err="1">
                <a:solidFill>
                  <a:schemeClr val="dk1"/>
                </a:solidFill>
                <a:latin typeface="Times New Roman" panose="02020603050405020304" pitchFamily="18" charset="0"/>
                <a:cs typeface="Times New Roman" panose="02020603050405020304" pitchFamily="18" charset="0"/>
                <a:sym typeface="Calibri"/>
              </a:rPr>
              <a:t>Manojsai</a:t>
            </a:r>
            <a:r>
              <a:rPr lang="en-IN" sz="2400" b="0" i="0" dirty="0">
                <a:solidFill>
                  <a:schemeClr val="dk1"/>
                </a:solidFill>
                <a:latin typeface="Times New Roman" panose="02020603050405020304" pitchFamily="18" charset="0"/>
                <a:cs typeface="Times New Roman" panose="02020603050405020304" pitchFamily="18" charset="0"/>
                <a:sym typeface="Calibri"/>
              </a:rPr>
              <a:t> R M [211421104158]</a:t>
            </a:r>
            <a:endParaRPr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400"/>
              <a:buNone/>
            </a:pPr>
            <a:r>
              <a:rPr lang="en-IN" sz="2400" b="0" i="0" dirty="0">
                <a:solidFill>
                  <a:schemeClr val="dk1"/>
                </a:solidFill>
                <a:latin typeface="Times New Roman" panose="02020603050405020304" pitchFamily="18" charset="0"/>
                <a:cs typeface="Times New Roman" panose="02020603050405020304" pitchFamily="18" charset="0"/>
                <a:sym typeface="Calibri"/>
              </a:rPr>
              <a:t>Rakesh K [211421104202]</a:t>
            </a:r>
            <a:endParaRPr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chemeClr val="dk1"/>
              </a:buClr>
              <a:buSzPts val="2400"/>
              <a:buNone/>
            </a:pPr>
            <a:r>
              <a:rPr lang="en-IN" sz="2400" b="0" i="0" dirty="0">
                <a:solidFill>
                  <a:schemeClr val="dk1"/>
                </a:solidFill>
                <a:latin typeface="Times New Roman" panose="02020603050405020304" pitchFamily="18" charset="0"/>
                <a:cs typeface="Times New Roman" panose="02020603050405020304" pitchFamily="18" charset="0"/>
                <a:sym typeface="Calibri"/>
              </a:rPr>
              <a:t>Karneesh Narayan V [211421104120]</a:t>
            </a:r>
            <a:endParaRPr dirty="0">
              <a:latin typeface="Times New Roman" panose="02020603050405020304" pitchFamily="18" charset="0"/>
              <a:cs typeface="Times New Roman" panose="02020603050405020304" pitchFamily="18" charset="0"/>
            </a:endParaRPr>
          </a:p>
        </p:txBody>
      </p:sp>
      <p:sp>
        <p:nvSpPr>
          <p:cNvPr id="86" name="Google Shape;86;p1"/>
          <p:cNvSpPr txBox="1"/>
          <p:nvPr/>
        </p:nvSpPr>
        <p:spPr>
          <a:xfrm>
            <a:off x="6577781" y="4558892"/>
            <a:ext cx="4886632" cy="1655762"/>
          </a:xfrm>
          <a:prstGeom prst="rect">
            <a:avLst/>
          </a:prstGeom>
          <a:noFill/>
          <a:ln>
            <a:noFill/>
          </a:ln>
        </p:spPr>
        <p:txBody>
          <a:bodyPr spcFirstLastPara="1" wrap="square" lIns="91425" tIns="45700" rIns="91425" bIns="45700" anchor="t" anchorCtr="0">
            <a:normAutofit/>
          </a:bodyPr>
          <a:lstStyle/>
          <a:p>
            <a:pPr marL="0" marR="0" lvl="0" indent="0" algn="r"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Calibri"/>
                <a:ea typeface="Calibri"/>
                <a:cs typeface="Calibri"/>
                <a:sym typeface="Calibri"/>
              </a:rPr>
              <a:t>BATCH NO : B17</a:t>
            </a:r>
            <a:endParaRPr/>
          </a:p>
          <a:p>
            <a:pPr marL="0" marR="0" lvl="0" indent="0" algn="r" rtl="0">
              <a:lnSpc>
                <a:spcPct val="90000"/>
              </a:lnSpc>
              <a:spcBef>
                <a:spcPts val="1000"/>
              </a:spcBef>
              <a:spcAft>
                <a:spcPts val="0"/>
              </a:spcAft>
              <a:buClr>
                <a:schemeClr val="dk1"/>
              </a:buClr>
              <a:buSzPts val="2400"/>
              <a:buFont typeface="Arial"/>
              <a:buNone/>
            </a:pPr>
            <a:r>
              <a:rPr lang="en-IN" sz="2400" b="0" i="0" u="none" strike="noStrike" cap="none">
                <a:solidFill>
                  <a:schemeClr val="dk1"/>
                </a:solidFill>
                <a:latin typeface="Times New Roman"/>
                <a:ea typeface="Times New Roman"/>
                <a:cs typeface="Times New Roman"/>
                <a:sym typeface="Times New Roman"/>
              </a:rPr>
              <a:t>Mr. M.Hari krishnan, M.E </a:t>
            </a:r>
            <a:endParaRPr sz="2200" b="0" i="0" u="none" strike="noStrike" cap="none">
              <a:solidFill>
                <a:schemeClr val="dk1"/>
              </a:solidFill>
              <a:latin typeface="Calibri"/>
              <a:ea typeface="Calibri"/>
              <a:cs typeface="Calibri"/>
              <a:sym typeface="Calibri"/>
            </a:endParaRPr>
          </a:p>
          <a:p>
            <a:pPr marL="0" marR="0" lvl="0" indent="0" algn="r" rtl="0">
              <a:lnSpc>
                <a:spcPct val="90000"/>
              </a:lnSpc>
              <a:spcBef>
                <a:spcPts val="1000"/>
              </a:spcBef>
              <a:spcAft>
                <a:spcPts val="0"/>
              </a:spcAft>
              <a:buClr>
                <a:schemeClr val="dk1"/>
              </a:buClr>
              <a:buSzPts val="2200"/>
              <a:buFont typeface="Arial"/>
              <a:buNone/>
            </a:pPr>
            <a:r>
              <a:rPr lang="en-IN" sz="2200" b="0" i="0" u="none" strike="noStrike" cap="none">
                <a:solidFill>
                  <a:schemeClr val="dk1"/>
                </a:solidFill>
                <a:latin typeface="Calibri"/>
                <a:ea typeface="Calibri"/>
                <a:cs typeface="Calibri"/>
                <a:sym typeface="Calibri"/>
              </a:rPr>
              <a:t>DEPARTMENT OF CSE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1048512" y="681037"/>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ABSTRACT</a:t>
            </a:r>
            <a:endParaRPr sz="4000" b="1" dirty="0">
              <a:latin typeface="Times New Roman"/>
              <a:ea typeface="Times New Roman"/>
              <a:cs typeface="Times New Roman"/>
              <a:sym typeface="Times New Roman"/>
            </a:endParaRPr>
          </a:p>
        </p:txBody>
      </p:sp>
      <p:sp>
        <p:nvSpPr>
          <p:cNvPr id="98" name="Google Shape;98;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Early diagnosis of </a:t>
            </a:r>
            <a:r>
              <a:rPr lang="en-US" sz="1800" b="1" dirty="0">
                <a:latin typeface="Times New Roman" panose="02020603050405020304" pitchFamily="18" charset="0"/>
                <a:cs typeface="Times New Roman" panose="02020603050405020304" pitchFamily="18" charset="0"/>
              </a:rPr>
              <a:t>macular diseases</a:t>
            </a:r>
            <a:r>
              <a:rPr lang="en-US" sz="1800" dirty="0">
                <a:latin typeface="Times New Roman" panose="02020603050405020304" pitchFamily="18" charset="0"/>
                <a:cs typeface="Times New Roman" panose="02020603050405020304" pitchFamily="18" charset="0"/>
              </a:rPr>
              <a:t> is crucial for preventing vision loss. </a:t>
            </a:r>
            <a:r>
              <a:rPr lang="en-US" sz="1800" b="1" dirty="0">
                <a:latin typeface="Times New Roman" panose="02020603050405020304" pitchFamily="18" charset="0"/>
                <a:cs typeface="Times New Roman" panose="02020603050405020304" pitchFamily="18" charset="0"/>
              </a:rPr>
              <a:t>OCT imaging</a:t>
            </a:r>
            <a:r>
              <a:rPr lang="en-US" sz="1800" dirty="0">
                <a:latin typeface="Times New Roman" panose="02020603050405020304" pitchFamily="18" charset="0"/>
                <a:cs typeface="Times New Roman" panose="02020603050405020304" pitchFamily="18" charset="0"/>
              </a:rPr>
              <a:t> is a powerful diagnostic tool, but manual interpretation is </a:t>
            </a:r>
            <a:r>
              <a:rPr lang="en-US" sz="1800" b="1" dirty="0">
                <a:latin typeface="Times New Roman" panose="02020603050405020304" pitchFamily="18" charset="0"/>
                <a:cs typeface="Times New Roman" panose="02020603050405020304" pitchFamily="18" charset="0"/>
              </a:rPr>
              <a:t>time-consuming and error-prone</a:t>
            </a:r>
            <a:r>
              <a:rPr lang="en-US" sz="18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We developed a </a:t>
            </a:r>
            <a:r>
              <a:rPr lang="en-US" sz="1800" b="1" dirty="0">
                <a:latin typeface="Times New Roman" panose="02020603050405020304" pitchFamily="18" charset="0"/>
                <a:cs typeface="Times New Roman" panose="02020603050405020304" pitchFamily="18" charset="0"/>
              </a:rPr>
              <a:t>CNN-based model</a:t>
            </a:r>
            <a:r>
              <a:rPr lang="en-US" sz="1800" dirty="0">
                <a:latin typeface="Times New Roman" panose="02020603050405020304" pitchFamily="18" charset="0"/>
                <a:cs typeface="Times New Roman" panose="02020603050405020304" pitchFamily="18" charset="0"/>
              </a:rPr>
              <a:t> trained on an </a:t>
            </a:r>
            <a:r>
              <a:rPr lang="en-US" sz="1800" b="1" dirty="0">
                <a:latin typeface="Times New Roman" panose="02020603050405020304" pitchFamily="18" charset="0"/>
                <a:cs typeface="Times New Roman" panose="02020603050405020304" pitchFamily="18" charset="0"/>
              </a:rPr>
              <a:t>annotated dataset</a:t>
            </a:r>
            <a:r>
              <a:rPr lang="en-US" sz="1800" dirty="0">
                <a:latin typeface="Times New Roman" panose="02020603050405020304" pitchFamily="18" charset="0"/>
                <a:cs typeface="Times New Roman" panose="02020603050405020304" pitchFamily="18" charset="0"/>
              </a:rPr>
              <a:t> to automate disease classification. The model is optimized using </a:t>
            </a:r>
            <a:r>
              <a:rPr lang="en-US" sz="1800" b="1" dirty="0">
                <a:latin typeface="Times New Roman" panose="02020603050405020304" pitchFamily="18" charset="0"/>
                <a:cs typeface="Times New Roman" panose="02020603050405020304" pitchFamily="18" charset="0"/>
              </a:rPr>
              <a:t>loss functions and hyperparameter tuning</a:t>
            </a:r>
            <a:r>
              <a:rPr lang="en-US" sz="1800" dirty="0">
                <a:latin typeface="Times New Roman" panose="02020603050405020304" pitchFamily="18" charset="0"/>
                <a:cs typeface="Times New Roman" panose="02020603050405020304" pitchFamily="18" charset="0"/>
              </a:rPr>
              <a:t> for better accuracy.</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Validation on a </a:t>
            </a:r>
            <a:r>
              <a:rPr lang="en-US" sz="1800" b="1" dirty="0">
                <a:latin typeface="Times New Roman" panose="02020603050405020304" pitchFamily="18" charset="0"/>
                <a:cs typeface="Times New Roman" panose="02020603050405020304" pitchFamily="18" charset="0"/>
              </a:rPr>
              <a:t>test set</a:t>
            </a:r>
            <a:r>
              <a:rPr lang="en-US" sz="1800" dirty="0">
                <a:latin typeface="Times New Roman" panose="02020603050405020304" pitchFamily="18" charset="0"/>
                <a:cs typeface="Times New Roman" panose="02020603050405020304" pitchFamily="18" charset="0"/>
              </a:rPr>
              <a:t> showed promising results, comparable to </a:t>
            </a:r>
            <a:r>
              <a:rPr lang="en-US" sz="1800" b="1" dirty="0">
                <a:latin typeface="Times New Roman" panose="02020603050405020304" pitchFamily="18" charset="0"/>
                <a:cs typeface="Times New Roman" panose="02020603050405020304" pitchFamily="18" charset="0"/>
              </a:rPr>
              <a:t>expert ophthalmologists</a:t>
            </a:r>
            <a:r>
              <a:rPr lang="en-US" sz="1800" dirty="0">
                <a:latin typeface="Times New Roman" panose="02020603050405020304" pitchFamily="18" charset="0"/>
                <a:cs typeface="Times New Roman" panose="02020603050405020304" pitchFamily="18" charset="0"/>
              </a:rPr>
              <a:t>. This system can </a:t>
            </a:r>
            <a:r>
              <a:rPr lang="en-US" sz="1800" b="1" dirty="0">
                <a:latin typeface="Times New Roman" panose="02020603050405020304" pitchFamily="18" charset="0"/>
                <a:cs typeface="Times New Roman" panose="02020603050405020304" pitchFamily="18" charset="0"/>
              </a:rPr>
              <a:t>assist doctors, enable early diagnosis, and serve as a cost-effective screening tool</a:t>
            </a:r>
            <a:r>
              <a:rPr lang="en-US" sz="1800" dirty="0">
                <a:latin typeface="Times New Roman" panose="02020603050405020304" pitchFamily="18" charset="0"/>
                <a:cs typeface="Times New Roman" panose="02020603050405020304" pitchFamily="18" charset="0"/>
              </a:rPr>
              <a:t>, especially in areas with a shortage of specialists.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title"/>
          </p:nvPr>
        </p:nvSpPr>
        <p:spPr>
          <a:xfrm>
            <a:off x="64008" y="0"/>
            <a:ext cx="10515600" cy="104986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LITERATURE SURVEY</a:t>
            </a:r>
            <a:endParaRPr b="1" dirty="0"/>
          </a:p>
        </p:txBody>
      </p:sp>
      <p:graphicFrame>
        <p:nvGraphicFramePr>
          <p:cNvPr id="104" name="Google Shape;104;p4"/>
          <p:cNvGraphicFramePr/>
          <p:nvPr/>
        </p:nvGraphicFramePr>
        <p:xfrm>
          <a:off x="143641" y="873466"/>
          <a:ext cx="11845150" cy="5723010"/>
        </p:xfrm>
        <a:graphic>
          <a:graphicData uri="http://schemas.openxmlformats.org/drawingml/2006/table">
            <a:tbl>
              <a:tblPr firstRow="1" bandRow="1">
                <a:noFill/>
                <a:tableStyleId>{82BB318C-1D3F-4AE9-AF49-1C76AB3AA438}</a:tableStyleId>
              </a:tblPr>
              <a:tblGrid>
                <a:gridCol w="1040525">
                  <a:extLst>
                    <a:ext uri="{9D8B030D-6E8A-4147-A177-3AD203B41FA5}">
                      <a16:colId xmlns:a16="http://schemas.microsoft.com/office/drawing/2014/main" val="20000"/>
                    </a:ext>
                  </a:extLst>
                </a:gridCol>
                <a:gridCol w="2759125">
                  <a:extLst>
                    <a:ext uri="{9D8B030D-6E8A-4147-A177-3AD203B41FA5}">
                      <a16:colId xmlns:a16="http://schemas.microsoft.com/office/drawing/2014/main" val="20001"/>
                    </a:ext>
                  </a:extLst>
                </a:gridCol>
                <a:gridCol w="2993400">
                  <a:extLst>
                    <a:ext uri="{9D8B030D-6E8A-4147-A177-3AD203B41FA5}">
                      <a16:colId xmlns:a16="http://schemas.microsoft.com/office/drawing/2014/main" val="20002"/>
                    </a:ext>
                  </a:extLst>
                </a:gridCol>
                <a:gridCol w="2965225">
                  <a:extLst>
                    <a:ext uri="{9D8B030D-6E8A-4147-A177-3AD203B41FA5}">
                      <a16:colId xmlns:a16="http://schemas.microsoft.com/office/drawing/2014/main" val="20003"/>
                    </a:ext>
                  </a:extLst>
                </a:gridCol>
                <a:gridCol w="2086875">
                  <a:extLst>
                    <a:ext uri="{9D8B030D-6E8A-4147-A177-3AD203B41FA5}">
                      <a16:colId xmlns:a16="http://schemas.microsoft.com/office/drawing/2014/main" val="20004"/>
                    </a:ext>
                  </a:extLst>
                </a:gridCol>
              </a:tblGrid>
              <a:tr h="602350">
                <a:tc>
                  <a:txBody>
                    <a:bodyPr/>
                    <a:lstStyle/>
                    <a:p>
                      <a:pPr marL="0" marR="0" lvl="0" indent="0" algn="ctr" rtl="0">
                        <a:spcBef>
                          <a:spcPts val="0"/>
                        </a:spcBef>
                        <a:spcAft>
                          <a:spcPts val="0"/>
                        </a:spcAft>
                        <a:buNone/>
                      </a:pPr>
                      <a:r>
                        <a:rPr lang="en-IN" sz="1600" u="none" strike="noStrike" cap="none">
                          <a:solidFill>
                            <a:schemeClr val="dk1"/>
                          </a:solidFill>
                          <a:latin typeface="Times New Roman"/>
                          <a:ea typeface="Times New Roman"/>
                          <a:cs typeface="Times New Roman"/>
                          <a:sym typeface="Times New Roman"/>
                        </a:rPr>
                        <a:t>S.NO</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IN" sz="1600" u="none" strike="noStrike" cap="none">
                          <a:solidFill>
                            <a:schemeClr val="dk1"/>
                          </a:solidFill>
                          <a:latin typeface="Times New Roman"/>
                          <a:ea typeface="Times New Roman"/>
                          <a:cs typeface="Times New Roman"/>
                          <a:sym typeface="Times New Roman"/>
                        </a:rPr>
                        <a:t>TITLE OF THE PAPER</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u="none" strike="noStrike" cap="none">
                          <a:solidFill>
                            <a:schemeClr val="dk1"/>
                          </a:solidFill>
                          <a:latin typeface="Times New Roman"/>
                          <a:ea typeface="Times New Roman"/>
                          <a:cs typeface="Times New Roman"/>
                          <a:sym typeface="Times New Roman"/>
                        </a:rPr>
                        <a:t>METHODOLOGY</a:t>
                      </a:r>
                      <a:endParaRPr/>
                    </a:p>
                    <a:p>
                      <a:pPr marL="0" marR="0" lvl="0" indent="0" algn="ctr" rtl="0">
                        <a:spcBef>
                          <a:spcPts val="0"/>
                        </a:spcBef>
                        <a:spcAft>
                          <a:spcPts val="0"/>
                        </a:spcAft>
                        <a:buNone/>
                      </a:pPr>
                      <a:endParaRPr sz="1600" u="none" strike="noStrike" cap="none">
                        <a:solidFill>
                          <a:schemeClr val="lt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u="none" strike="noStrike" cap="none">
                          <a:solidFill>
                            <a:schemeClr val="dk1"/>
                          </a:solidFill>
                          <a:latin typeface="Times New Roman"/>
                          <a:ea typeface="Times New Roman"/>
                          <a:cs typeface="Times New Roman"/>
                          <a:sym typeface="Times New Roman"/>
                        </a:rPr>
                        <a:t>ADVANTAGES</a:t>
                      </a:r>
                      <a:endParaRPr/>
                    </a:p>
                    <a:p>
                      <a:pPr marL="0" marR="0" lvl="0" indent="0" algn="ctr" rtl="0">
                        <a:spcBef>
                          <a:spcPts val="0"/>
                        </a:spcBef>
                        <a:spcAft>
                          <a:spcPts val="0"/>
                        </a:spcAft>
                        <a:buNone/>
                      </a:pPr>
                      <a:endParaRPr sz="1600" u="none" strike="noStrike" cap="none">
                        <a:solidFill>
                          <a:schemeClr val="lt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u="none" strike="noStrike" cap="none">
                          <a:solidFill>
                            <a:schemeClr val="dk1"/>
                          </a:solidFill>
                          <a:latin typeface="Times New Roman"/>
                          <a:ea typeface="Times New Roman"/>
                          <a:cs typeface="Times New Roman"/>
                          <a:sym typeface="Times New Roman"/>
                        </a:rPr>
                        <a:t>DISADVANTAGES</a:t>
                      </a:r>
                      <a:endParaRPr/>
                    </a:p>
                    <a:p>
                      <a:pPr marL="0" marR="0" lvl="0" indent="0" algn="ctr" rtl="0">
                        <a:spcBef>
                          <a:spcPts val="0"/>
                        </a:spcBef>
                        <a:spcAft>
                          <a:spcPts val="0"/>
                        </a:spcAft>
                        <a:buNone/>
                      </a:pPr>
                      <a:endParaRPr sz="1600" u="none" strike="noStrike" cap="none">
                        <a:solidFill>
                          <a:schemeClr val="lt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457225">
                <a:tc>
                  <a:txBody>
                    <a:bodyPr/>
                    <a:lstStyle/>
                    <a:p>
                      <a:pPr marL="0" marR="0" lvl="0" indent="0" algn="ctr" rtl="0">
                        <a:spcBef>
                          <a:spcPts val="0"/>
                        </a:spcBef>
                        <a:spcAft>
                          <a:spcPts val="0"/>
                        </a:spcAft>
                        <a:buNone/>
                      </a:pPr>
                      <a:r>
                        <a:rPr lang="en-IN" sz="1600" u="none" strike="noStrike" cap="none">
                          <a:solidFill>
                            <a:schemeClr val="dk1"/>
                          </a:solidFill>
                          <a:latin typeface="Times New Roman"/>
                          <a:ea typeface="Times New Roman"/>
                          <a:cs typeface="Times New Roman"/>
                          <a:sym typeface="Times New Roman"/>
                        </a:rPr>
                        <a:t>1.</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u="none" strike="noStrike" cap="none">
                          <a:latin typeface="Times New Roman"/>
                          <a:ea typeface="Times New Roman"/>
                          <a:cs typeface="Times New Roman"/>
                          <a:sym typeface="Times New Roman"/>
                        </a:rPr>
                        <a:t>Classification of Diabetic Retinopathy Images by Using Deep Learning Models (Suvajit Dutta et al., 2018)</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u="none" strike="noStrike" cap="none">
                          <a:latin typeface="Times New Roman"/>
                          <a:ea typeface="Times New Roman"/>
                          <a:cs typeface="Times New Roman"/>
                          <a:sym typeface="Times New Roman"/>
                        </a:rPr>
                        <a:t>The study uses deep learning models (Back Propagation Neural Network, Deep Neural Network, and Convolutional Neural Network) to classify diabetic retinopathy images.</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u="none" strike="noStrike" cap="none">
                          <a:latin typeface="Times New Roman"/>
                          <a:ea typeface="Times New Roman"/>
                          <a:cs typeface="Times New Roman"/>
                          <a:sym typeface="Times New Roman"/>
                        </a:rPr>
                        <a:t>Deep learning models (DNN, CNN) outperform traditional neural networks (NN) in classifying diabetic retinopathy images, providing higher accuracy in detecting the severity of the disease</a:t>
                      </a:r>
                      <a:endParaRPr sz="180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u="none" strike="noStrike" cap="none">
                          <a:latin typeface="Times New Roman"/>
                          <a:ea typeface="Times New Roman"/>
                          <a:cs typeface="Times New Roman"/>
                          <a:sym typeface="Times New Roman"/>
                        </a:rPr>
                        <a:t>One of the challenges in the study is the accurate determination of feature class thresholds, which is essential for reliable classification of diabetic retinopathy severity.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936025">
                <a:tc>
                  <a:txBody>
                    <a:bodyPr/>
                    <a:lstStyle/>
                    <a:p>
                      <a:pPr marL="0" marR="0" lvl="0" indent="0" algn="ctr" rtl="0">
                        <a:spcBef>
                          <a:spcPts val="0"/>
                        </a:spcBef>
                        <a:spcAft>
                          <a:spcPts val="0"/>
                        </a:spcAft>
                        <a:buNone/>
                      </a:pPr>
                      <a:r>
                        <a:rPr lang="en-IN" sz="1600">
                          <a:solidFill>
                            <a:schemeClr val="dk1"/>
                          </a:solidFill>
                          <a:latin typeface="Times New Roman"/>
                          <a:ea typeface="Times New Roman"/>
                          <a:cs typeface="Times New Roman"/>
                          <a:sym typeface="Times New Roman"/>
                        </a:rPr>
                        <a:t>2.</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Retinal image preprocessing, enhancement, and registration (Hernandez-Matasa et al., 2019)</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paper focuses on preprocessing, enhancement, and registration techniques for retinal images to improve their quality and facilitate accurate analysis for diagnostic purposes.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Improves the quality and usability of retinal images for diagnostic applications, enhancing accuracy in detecting retinal conditions.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use of advanced image processing techniques can be computationally expensive and may require specialized hardware or software.</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graphicFrame>
        <p:nvGraphicFramePr>
          <p:cNvPr id="109" name="Google Shape;109;p5"/>
          <p:cNvGraphicFramePr/>
          <p:nvPr/>
        </p:nvGraphicFramePr>
        <p:xfrm>
          <a:off x="123011" y="171592"/>
          <a:ext cx="11834650" cy="6583710"/>
        </p:xfrm>
        <a:graphic>
          <a:graphicData uri="http://schemas.openxmlformats.org/drawingml/2006/table">
            <a:tbl>
              <a:tblPr firstRow="1" bandRow="1">
                <a:noFill/>
                <a:tableStyleId>{82BB318C-1D3F-4AE9-AF49-1C76AB3AA438}</a:tableStyleId>
              </a:tblPr>
              <a:tblGrid>
                <a:gridCol w="924900">
                  <a:extLst>
                    <a:ext uri="{9D8B030D-6E8A-4147-A177-3AD203B41FA5}">
                      <a16:colId xmlns:a16="http://schemas.microsoft.com/office/drawing/2014/main" val="20000"/>
                    </a:ext>
                  </a:extLst>
                </a:gridCol>
                <a:gridCol w="2963925">
                  <a:extLst>
                    <a:ext uri="{9D8B030D-6E8A-4147-A177-3AD203B41FA5}">
                      <a16:colId xmlns:a16="http://schemas.microsoft.com/office/drawing/2014/main" val="20001"/>
                    </a:ext>
                  </a:extLst>
                </a:gridCol>
                <a:gridCol w="3245500">
                  <a:extLst>
                    <a:ext uri="{9D8B030D-6E8A-4147-A177-3AD203B41FA5}">
                      <a16:colId xmlns:a16="http://schemas.microsoft.com/office/drawing/2014/main" val="20002"/>
                    </a:ext>
                  </a:extLst>
                </a:gridCol>
                <a:gridCol w="2336075">
                  <a:extLst>
                    <a:ext uri="{9D8B030D-6E8A-4147-A177-3AD203B41FA5}">
                      <a16:colId xmlns:a16="http://schemas.microsoft.com/office/drawing/2014/main" val="20003"/>
                    </a:ext>
                  </a:extLst>
                </a:gridCol>
                <a:gridCol w="2364250">
                  <a:extLst>
                    <a:ext uri="{9D8B030D-6E8A-4147-A177-3AD203B41FA5}">
                      <a16:colId xmlns:a16="http://schemas.microsoft.com/office/drawing/2014/main" val="20004"/>
                    </a:ext>
                  </a:extLst>
                </a:gridCol>
              </a:tblGrid>
              <a:tr h="2149650">
                <a:tc>
                  <a:txBody>
                    <a:bodyPr/>
                    <a:lstStyle/>
                    <a:p>
                      <a:pPr marL="0" marR="0" lvl="0" indent="0" algn="ctr" rtl="0">
                        <a:spcBef>
                          <a:spcPts val="0"/>
                        </a:spcBef>
                        <a:spcAft>
                          <a:spcPts val="0"/>
                        </a:spcAft>
                        <a:buNone/>
                      </a:pPr>
                      <a:r>
                        <a:rPr lang="en-IN" sz="1800" b="0">
                          <a:solidFill>
                            <a:schemeClr val="dk1"/>
                          </a:solidFill>
                          <a:latin typeface="Times New Roman"/>
                          <a:ea typeface="Times New Roman"/>
                          <a:cs typeface="Times New Roman"/>
                          <a:sym typeface="Times New Roman"/>
                        </a:rPr>
                        <a:t>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Automatic Detection of Diabetic Eye Disease Through Deep Learning Using Fundus Images: A Survey (RUBINA SARKI, KHANDAKAR AHMED, 2020)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The paper conducts a systematic survey of various automated approaches for detecting diabetic eye diseases through deep learning, reviewing aspects like available datasets, image preprocessing techniques, and deep learning models.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High security and accurate identification; prevents proxy attendance</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0">
                          <a:solidFill>
                            <a:schemeClr val="dk1"/>
                          </a:solidFill>
                          <a:latin typeface="Times New Roman"/>
                          <a:ea typeface="Times New Roman"/>
                          <a:cs typeface="Times New Roman"/>
                          <a:sym typeface="Times New Roman"/>
                        </a:rPr>
                        <a:t>The use of machine learning for early detection of diabetic eye disease offers significant benefits over manual detection, potentially improving accuracy and speed in diagnosis.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797275">
                <a:tc>
                  <a:txBody>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4.</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Retinal Image Analysis Based on Deep Learning (Baidaa Al-Bander, 2018)</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paper uses deep learning techniques, specifically convolutional neural networks (CNNs), to analyze retinal images for detecting diseases.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High sensitivity and specificity for retinal disease detection, offering a cost-effective and automated approach.</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The model may face challenges in generalizing across different populations due to variations in image quality and pathology.</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903650">
                <a:tc>
                  <a:txBody>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5.</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Retinal Image Analysis Based on Deep Learning (Baidaa Al-Bander, 2018)</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paper utilizes deep learning techniques for the automated analysis of retinal images, specifically focusing on identifying retinal diseases without human intervention.</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approach offers high sensitivity and specificity, allowing for accurate and efficient identification of retinal diseases in large populations.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The model might need a lot of data and computing power, which could be difficult for real-time use in resource-limited settings.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graphicFrame>
        <p:nvGraphicFramePr>
          <p:cNvPr id="114" name="Google Shape;114;p6"/>
          <p:cNvGraphicFramePr/>
          <p:nvPr/>
        </p:nvGraphicFramePr>
        <p:xfrm>
          <a:off x="246993" y="131104"/>
          <a:ext cx="11698000" cy="6583710"/>
        </p:xfrm>
        <a:graphic>
          <a:graphicData uri="http://schemas.openxmlformats.org/drawingml/2006/table">
            <a:tbl>
              <a:tblPr firstRow="1" bandRow="1">
                <a:noFill/>
                <a:tableStyleId>{82BB318C-1D3F-4AE9-AF49-1C76AB3AA438}</a:tableStyleId>
              </a:tblPr>
              <a:tblGrid>
                <a:gridCol w="998475">
                  <a:extLst>
                    <a:ext uri="{9D8B030D-6E8A-4147-A177-3AD203B41FA5}">
                      <a16:colId xmlns:a16="http://schemas.microsoft.com/office/drawing/2014/main" val="20000"/>
                    </a:ext>
                  </a:extLst>
                </a:gridCol>
                <a:gridCol w="2364000">
                  <a:extLst>
                    <a:ext uri="{9D8B030D-6E8A-4147-A177-3AD203B41FA5}">
                      <a16:colId xmlns:a16="http://schemas.microsoft.com/office/drawing/2014/main" val="20001"/>
                    </a:ext>
                  </a:extLst>
                </a:gridCol>
                <a:gridCol w="3433000">
                  <a:extLst>
                    <a:ext uri="{9D8B030D-6E8A-4147-A177-3AD203B41FA5}">
                      <a16:colId xmlns:a16="http://schemas.microsoft.com/office/drawing/2014/main" val="20002"/>
                    </a:ext>
                  </a:extLst>
                </a:gridCol>
                <a:gridCol w="2598825">
                  <a:extLst>
                    <a:ext uri="{9D8B030D-6E8A-4147-A177-3AD203B41FA5}">
                      <a16:colId xmlns:a16="http://schemas.microsoft.com/office/drawing/2014/main" val="20003"/>
                    </a:ext>
                  </a:extLst>
                </a:gridCol>
                <a:gridCol w="2303700">
                  <a:extLst>
                    <a:ext uri="{9D8B030D-6E8A-4147-A177-3AD203B41FA5}">
                      <a16:colId xmlns:a16="http://schemas.microsoft.com/office/drawing/2014/main" val="20004"/>
                    </a:ext>
                  </a:extLst>
                </a:gridCol>
              </a:tblGrid>
              <a:tr h="1967450">
                <a:tc>
                  <a:txBody>
                    <a:bodyPr/>
                    <a:lstStyle/>
                    <a:p>
                      <a:pPr marL="0" marR="0" lvl="0" indent="0" algn="ctr" rtl="0">
                        <a:spcBef>
                          <a:spcPts val="0"/>
                        </a:spcBef>
                        <a:spcAft>
                          <a:spcPts val="0"/>
                        </a:spcAft>
                        <a:buNone/>
                      </a:pPr>
                      <a:r>
                        <a:rPr lang="en-IN" sz="1800" b="0">
                          <a:solidFill>
                            <a:schemeClr val="dk1"/>
                          </a:solidFill>
                        </a:rPr>
                        <a:t>6.</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0">
                          <a:solidFill>
                            <a:schemeClr val="dk1"/>
                          </a:solidFill>
                          <a:latin typeface="Times New Roman"/>
                          <a:ea typeface="Times New Roman"/>
                          <a:cs typeface="Times New Roman"/>
                          <a:sym typeface="Times New Roman"/>
                        </a:rPr>
                        <a:t>Identification and Classification of Retinal Diseases by Using Deep Learning Models(Noor B. Khalaf et al., 2023)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0">
                          <a:solidFill>
                            <a:schemeClr val="dk1"/>
                          </a:solidFill>
                          <a:latin typeface="Times New Roman"/>
                          <a:ea typeface="Times New Roman"/>
                          <a:cs typeface="Times New Roman"/>
                          <a:sym typeface="Times New Roman"/>
                        </a:rPr>
                        <a:t>The paper uses CNN-based deep learning models to analyze and classify retinal diseases from medical images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0">
                          <a:solidFill>
                            <a:schemeClr val="dk1"/>
                          </a:solidFill>
                          <a:latin typeface="Times New Roman"/>
                          <a:ea typeface="Times New Roman"/>
                          <a:cs typeface="Times New Roman"/>
                          <a:sym typeface="Times New Roman"/>
                        </a:rPr>
                        <a:t>High Accuracy – Deep learning models can effectively extract complex patterns from retinal images, improving disease identification accuracy</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b="0">
                          <a:solidFill>
                            <a:schemeClr val="dk1"/>
                          </a:solidFill>
                          <a:latin typeface="Times New Roman"/>
                          <a:ea typeface="Times New Roman"/>
                          <a:cs typeface="Times New Roman"/>
                          <a:sym typeface="Times New Roman"/>
                        </a:rPr>
                        <a:t>High computational complexity limits real-time applications.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715775">
                <a:tc>
                  <a:txBody>
                    <a:bodyPr/>
                    <a:lstStyle/>
                    <a:p>
                      <a:pPr marL="0" marR="0" lvl="0" indent="0" algn="ctr" rtl="0">
                        <a:spcBef>
                          <a:spcPts val="0"/>
                        </a:spcBef>
                        <a:spcAft>
                          <a:spcPts val="0"/>
                        </a:spcAft>
                        <a:buNone/>
                      </a:pPr>
                      <a:r>
                        <a:rPr lang="en-IN" sz="1800">
                          <a:solidFill>
                            <a:schemeClr val="dk1"/>
                          </a:solidFill>
                        </a:rPr>
                        <a:t>7.</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A Deep Learning Framework for Detection and Classification of Diabetic Retinopathy in Fundus Images Using Residual Neural Networks(Abini M.A. &amp; S. Sridevi Sathya Priya, 2023)</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The paper proposes a deep learning-based approach using Residual Neural Networks (ResNet) to detect and classify diabetic retinopathy in fundus images. ResNet's skip connections help in addressing the vanishing gradient problem, improving classification accuracy.</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High Accuracy: The use of ResNet enhances the model's ability to extract complex features, leading to improved accuracy in detecting diabetic retinopathy stages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Computational Complexity: Deep learning models like ResNet require high computational power and large datasets for training, making them resource-intensive.</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1654275">
                <a:tc>
                  <a:txBody>
                    <a:bodyPr/>
                    <a:lstStyle/>
                    <a:p>
                      <a:pPr marL="0" marR="0" lvl="0" indent="0" algn="ctr" rtl="0">
                        <a:spcBef>
                          <a:spcPts val="0"/>
                        </a:spcBef>
                        <a:spcAft>
                          <a:spcPts val="0"/>
                        </a:spcAft>
                        <a:buNone/>
                      </a:pPr>
                      <a:r>
                        <a:rPr lang="en-IN" sz="1800">
                          <a:solidFill>
                            <a:schemeClr val="dk1"/>
                          </a:solidFill>
                        </a:rPr>
                        <a:t>8.</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Diagnosis of Diabetic Retinopathy by using EfficientNet-B7 CNN Architecture in Deep Learning (Raghu Raman et al., 2023)</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The study employs the EfficientNet-B7 CNN architecture, a deep learning model optimized for image classification, to analyze retinal images for diagnosing Diabetic Retinopathy.</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EfficientNet-B7 provides higher accuracy and better feature extraction compared to traditional CNN models, improving early diagnosis.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IN" sz="1800">
                          <a:latin typeface="Times New Roman"/>
                          <a:ea typeface="Times New Roman"/>
                          <a:cs typeface="Times New Roman"/>
                          <a:sym typeface="Times New Roman"/>
                        </a:rPr>
                        <a:t>The model requires high computational resources for training and inference, making it less feasible for low-power devices.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graphicFrame>
        <p:nvGraphicFramePr>
          <p:cNvPr id="119" name="Google Shape;119;p7"/>
          <p:cNvGraphicFramePr/>
          <p:nvPr/>
        </p:nvGraphicFramePr>
        <p:xfrm>
          <a:off x="173420" y="320040"/>
          <a:ext cx="11845150" cy="6217940"/>
        </p:xfrm>
        <a:graphic>
          <a:graphicData uri="http://schemas.openxmlformats.org/drawingml/2006/table">
            <a:tbl>
              <a:tblPr firstRow="1" bandRow="1">
                <a:noFill/>
                <a:tableStyleId>{82BB318C-1D3F-4AE9-AF49-1C76AB3AA438}</a:tableStyleId>
              </a:tblPr>
              <a:tblGrid>
                <a:gridCol w="1040525">
                  <a:extLst>
                    <a:ext uri="{9D8B030D-6E8A-4147-A177-3AD203B41FA5}">
                      <a16:colId xmlns:a16="http://schemas.microsoft.com/office/drawing/2014/main" val="20000"/>
                    </a:ext>
                  </a:extLst>
                </a:gridCol>
                <a:gridCol w="2149650">
                  <a:extLst>
                    <a:ext uri="{9D8B030D-6E8A-4147-A177-3AD203B41FA5}">
                      <a16:colId xmlns:a16="http://schemas.microsoft.com/office/drawing/2014/main" val="20001"/>
                    </a:ext>
                  </a:extLst>
                </a:gridCol>
                <a:gridCol w="3602875">
                  <a:extLst>
                    <a:ext uri="{9D8B030D-6E8A-4147-A177-3AD203B41FA5}">
                      <a16:colId xmlns:a16="http://schemas.microsoft.com/office/drawing/2014/main" val="20002"/>
                    </a:ext>
                  </a:extLst>
                </a:gridCol>
                <a:gridCol w="2965225">
                  <a:extLst>
                    <a:ext uri="{9D8B030D-6E8A-4147-A177-3AD203B41FA5}">
                      <a16:colId xmlns:a16="http://schemas.microsoft.com/office/drawing/2014/main" val="20003"/>
                    </a:ext>
                  </a:extLst>
                </a:gridCol>
                <a:gridCol w="2086875">
                  <a:extLst>
                    <a:ext uri="{9D8B030D-6E8A-4147-A177-3AD203B41FA5}">
                      <a16:colId xmlns:a16="http://schemas.microsoft.com/office/drawing/2014/main" val="20004"/>
                    </a:ext>
                  </a:extLst>
                </a:gridCol>
              </a:tblGrid>
              <a:tr h="2620250">
                <a:tc>
                  <a:txBody>
                    <a:bodyPr/>
                    <a:lstStyle/>
                    <a:p>
                      <a:pPr marL="0" marR="0" lvl="0" indent="0" algn="ctr" rtl="0">
                        <a:spcBef>
                          <a:spcPts val="0"/>
                        </a:spcBef>
                        <a:spcAft>
                          <a:spcPts val="0"/>
                        </a:spcAft>
                        <a:buNone/>
                      </a:pPr>
                      <a:r>
                        <a:rPr lang="en-IN" sz="1800" b="0">
                          <a:solidFill>
                            <a:schemeClr val="dk1"/>
                          </a:solidFill>
                          <a:latin typeface="Times New Roman"/>
                          <a:ea typeface="Times New Roman"/>
                          <a:cs typeface="Times New Roman"/>
                          <a:sym typeface="Times New Roman"/>
                        </a:rPr>
                        <a:t>9.</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An Automated Detection and Multi-stage Classification of Diabetic Retinopathy using Convolutional Neural Networks(Nandhini S et al., 2023)</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The paper employs Convolutional Neural Networks (CNNs) to automate the detection and multi-stage classification of Diabetic Retinopathy (DR) using retinal fundus images. The CNN model is trained on a dataset of retinal images to classify different DR stages, improving early detection and treatment.</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High Accuracy: CNN-based classification provides better feature extraction and accuracy in detecting different stages of DR compared to traditional image processing techniques.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b="0">
                          <a:solidFill>
                            <a:schemeClr val="dk1"/>
                          </a:solidFill>
                          <a:latin typeface="Times New Roman"/>
                          <a:ea typeface="Times New Roman"/>
                          <a:cs typeface="Times New Roman"/>
                          <a:sym typeface="Times New Roman"/>
                        </a:rPr>
                        <a:t>Computational Complexity: Deep learning models like CNNs require high computational power and large datasets for training, which may not be feasible in resource-limited environments.</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74400">
                <a:tc>
                  <a:txBody>
                    <a:bodyPr/>
                    <a:lstStyle/>
                    <a:p>
                      <a:pPr marL="0" marR="0" lvl="0" indent="0" algn="ctr" rtl="0">
                        <a:spcBef>
                          <a:spcPts val="0"/>
                        </a:spcBef>
                        <a:spcAft>
                          <a:spcPts val="0"/>
                        </a:spcAft>
                        <a:buNone/>
                      </a:pPr>
                      <a:r>
                        <a:rPr lang="en-IN" sz="1800">
                          <a:solidFill>
                            <a:schemeClr val="dk1"/>
                          </a:solidFill>
                          <a:latin typeface="Times New Roman"/>
                          <a:ea typeface="Times New Roman"/>
                          <a:cs typeface="Times New Roman"/>
                          <a:sym typeface="Times New Roman"/>
                        </a:rPr>
                        <a:t>10.</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An Interpretable Ensemble Deep Learning Model for Diabetic Retinopathy Disease Classification(Hongyang Jiang et al., 2019)</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paper proposes an ensemble deep learning model that combines multiple classifiers to improve the accuracy and interpretability of diabetic retinopathy classification. The model integrates different deep learning architectures, including convolutional neural networks (CNNs), and provides a mechanism for interpreting the model's decisions.	</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proposed model enhances the classification accuracy for diabetic retinopathy by combining the strengths of multiple deep learning models and providing interpretable results that can assist medical professionals in understanding the reasoning behind the predictions.</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just" rtl="0">
                        <a:spcBef>
                          <a:spcPts val="0"/>
                        </a:spcBef>
                        <a:spcAft>
                          <a:spcPts val="0"/>
                        </a:spcAft>
                        <a:buNone/>
                      </a:pPr>
                      <a:r>
                        <a:rPr lang="en-IN" sz="1800">
                          <a:latin typeface="Times New Roman"/>
                          <a:ea typeface="Times New Roman"/>
                          <a:cs typeface="Times New Roman"/>
                          <a:sym typeface="Times New Roman"/>
                        </a:rPr>
                        <a:t>The method may require significant computational resources for training the ensemble model, which could limit its practicality in real-time clinical settings with limited computing power.</a:t>
                      </a:r>
                      <a:endParaRPr sz="1800">
                        <a:solidFill>
                          <a:schemeClr val="dk1"/>
                        </a:solidFill>
                        <a:latin typeface="Times New Roman"/>
                        <a:ea typeface="Times New Roman"/>
                        <a:cs typeface="Times New Roman"/>
                        <a:sym typeface="Times New Roman"/>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796158" y="34410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OBJECTIVE</a:t>
            </a:r>
            <a:endParaRPr b="1" dirty="0"/>
          </a:p>
        </p:txBody>
      </p:sp>
      <p:sp>
        <p:nvSpPr>
          <p:cNvPr id="92" name="Google Shape;92;p2"/>
          <p:cNvSpPr txBox="1">
            <a:spLocks noGrp="1"/>
          </p:cNvSpPr>
          <p:nvPr>
            <p:ph type="body" idx="1"/>
          </p:nvPr>
        </p:nvSpPr>
        <p:spPr>
          <a:xfrm>
            <a:off x="838200" y="1669667"/>
            <a:ext cx="10515600" cy="4351338"/>
          </a:xfrm>
          <a:prstGeom prst="rect">
            <a:avLst/>
          </a:prstGeom>
          <a:noFill/>
          <a:ln>
            <a:noFill/>
          </a:ln>
        </p:spPr>
        <p:txBody>
          <a:bodyPr spcFirstLastPara="1" wrap="square" lIns="91425" tIns="45700" rIns="91425" bIns="45700" anchor="t" anchorCtr="0">
            <a:normAutofit/>
          </a:bodyPr>
          <a:lstStyle/>
          <a:p>
            <a:pPr marL="285750" indent="-285750" algn="just">
              <a:lnSpc>
                <a:spcPct val="150000"/>
              </a:lnSpc>
              <a:spcBef>
                <a:spcPts val="0"/>
              </a:spcBef>
              <a:buSzPct val="75630"/>
              <a:buFont typeface="Wingdings" panose="05000000000000000000" pitchFamily="2" charset="2"/>
              <a:buChar char="Ø"/>
            </a:pPr>
            <a:r>
              <a:rPr lang="en-IN" sz="1600" dirty="0">
                <a:latin typeface="Times New Roman"/>
                <a:ea typeface="Times New Roman"/>
                <a:cs typeface="Times New Roman"/>
                <a:sym typeface="Times New Roman"/>
              </a:rPr>
              <a:t>Macula oct disease prediction is one of the major factors in our healthcare domain.</a:t>
            </a:r>
            <a:r>
              <a:rPr lang="en-IN" sz="1600" dirty="0"/>
              <a:t> </a:t>
            </a:r>
            <a:r>
              <a:rPr lang="en-IN" sz="1600" dirty="0">
                <a:latin typeface="Times New Roman"/>
                <a:ea typeface="Times New Roman"/>
                <a:cs typeface="Times New Roman"/>
                <a:sym typeface="Times New Roman"/>
              </a:rPr>
              <a:t>There are lot of patients who are actively present in the world. It is difficult to find</a:t>
            </a:r>
            <a:r>
              <a:rPr lang="en-IN" sz="1600" dirty="0"/>
              <a:t> </a:t>
            </a:r>
            <a:r>
              <a:rPr lang="en-IN" sz="1600" dirty="0">
                <a:latin typeface="Times New Roman"/>
                <a:ea typeface="Times New Roman"/>
                <a:cs typeface="Times New Roman"/>
                <a:sym typeface="Times New Roman"/>
              </a:rPr>
              <a:t>the type Macula oct disease on the eye. So this project can easily find out the type</a:t>
            </a:r>
            <a:r>
              <a:rPr lang="en-IN" sz="1600" dirty="0"/>
              <a:t> </a:t>
            </a:r>
            <a:r>
              <a:rPr lang="en-IN" sz="1600" dirty="0">
                <a:latin typeface="Times New Roman"/>
                <a:ea typeface="Times New Roman"/>
                <a:cs typeface="Times New Roman"/>
                <a:sym typeface="Times New Roman"/>
              </a:rPr>
              <a:t>of Macula oct disease.</a:t>
            </a:r>
            <a:endParaRPr sz="1600" dirty="0"/>
          </a:p>
          <a:p>
            <a:pPr marL="285750" lvl="0" indent="-285750" algn="just" rtl="0">
              <a:lnSpc>
                <a:spcPct val="150000"/>
              </a:lnSpc>
              <a:spcBef>
                <a:spcPts val="0"/>
              </a:spcBef>
              <a:spcAft>
                <a:spcPts val="0"/>
              </a:spcAft>
              <a:buClr>
                <a:schemeClr val="dk1"/>
              </a:buClr>
              <a:buSzPct val="75630"/>
              <a:buFont typeface="Wingdings" panose="05000000000000000000" pitchFamily="2" charset="2"/>
              <a:buChar char="Ø"/>
            </a:pPr>
            <a:r>
              <a:rPr lang="en-IN" sz="1600" dirty="0">
                <a:latin typeface="Times New Roman"/>
                <a:ea typeface="Times New Roman"/>
                <a:cs typeface="Times New Roman"/>
                <a:sym typeface="Times New Roman"/>
              </a:rPr>
              <a:t>The goal is to develop a deep learning model for Macula oct disease image</a:t>
            </a:r>
            <a:r>
              <a:rPr lang="en-IN" sz="1600" dirty="0"/>
              <a:t> </a:t>
            </a:r>
            <a:r>
              <a:rPr lang="en-IN" sz="1600" dirty="0">
                <a:latin typeface="Times New Roman"/>
                <a:ea typeface="Times New Roman"/>
                <a:cs typeface="Times New Roman"/>
                <a:sym typeface="Times New Roman"/>
              </a:rPr>
              <a:t>classification by Deep learning algorithm for potentially classifying the results in</a:t>
            </a:r>
            <a:r>
              <a:rPr lang="en-IN" sz="1600" dirty="0"/>
              <a:t> </a:t>
            </a:r>
            <a:r>
              <a:rPr lang="en-IN" sz="1600" dirty="0">
                <a:latin typeface="Times New Roman"/>
                <a:ea typeface="Times New Roman"/>
                <a:cs typeface="Times New Roman"/>
                <a:sym typeface="Times New Roman"/>
              </a:rPr>
              <a:t>the form of best accuracy by comparing the CNN architectures.</a:t>
            </a:r>
          </a:p>
          <a:p>
            <a:pPr>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Current Challenges in Macula Disease Diagnosis:</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Requires expert ophthalmologists.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Time-consuming manual analysis.</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Risk of misdiagnosis due to subtle differences in OCT scans.</a:t>
            </a:r>
          </a:p>
          <a:p>
            <a:pPr>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Our Objective:</a:t>
            </a:r>
            <a:endParaRPr lang="en-US" sz="1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 </a:t>
            </a:r>
            <a:r>
              <a:rPr lang="en-US" sz="1600" b="1" dirty="0">
                <a:latin typeface="Times New Roman" panose="02020603050405020304" pitchFamily="18" charset="0"/>
                <a:cs typeface="Times New Roman" panose="02020603050405020304" pitchFamily="18" charset="0"/>
              </a:rPr>
              <a:t>deep learning model</a:t>
            </a:r>
            <a:r>
              <a:rPr lang="en-US" sz="1600" dirty="0">
                <a:latin typeface="Times New Roman" panose="02020603050405020304" pitchFamily="18" charset="0"/>
                <a:cs typeface="Times New Roman" panose="02020603050405020304" pitchFamily="18" charset="0"/>
              </a:rPr>
              <a:t> for fast and accurate classification.</a:t>
            </a:r>
          </a:p>
          <a:p>
            <a:pPr marL="742950" lvl="1"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accessibility of AI-driven diagnosis in medical imaging.</a:t>
            </a:r>
          </a:p>
          <a:p>
            <a:pPr marL="285750" lvl="0" indent="-285750" algn="just" rtl="0">
              <a:lnSpc>
                <a:spcPct val="150000"/>
              </a:lnSpc>
              <a:spcBef>
                <a:spcPts val="0"/>
              </a:spcBef>
              <a:spcAft>
                <a:spcPts val="0"/>
              </a:spcAft>
              <a:buClr>
                <a:schemeClr val="dk1"/>
              </a:buClr>
              <a:buSzPct val="75630"/>
              <a:buFont typeface="Noto Sans Symbols"/>
              <a:buChar char="⮚"/>
            </a:pPr>
            <a:endParaRPr lang="en-IN" sz="16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9"/>
          <p:cNvSpPr txBox="1">
            <a:spLocks noGrp="1"/>
          </p:cNvSpPr>
          <p:nvPr>
            <p:ph type="title"/>
          </p:nvPr>
        </p:nvSpPr>
        <p:spPr>
          <a:xfrm>
            <a:off x="436772" y="178312"/>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EXISTING SYSTEM</a:t>
            </a:r>
            <a:endParaRPr b="1" dirty="0"/>
          </a:p>
        </p:txBody>
      </p:sp>
      <p:sp>
        <p:nvSpPr>
          <p:cNvPr id="131" name="Google Shape;131;p9"/>
          <p:cNvSpPr txBox="1"/>
          <p:nvPr/>
        </p:nvSpPr>
        <p:spPr>
          <a:xfrm>
            <a:off x="436772" y="929583"/>
            <a:ext cx="11221828" cy="5309105"/>
          </a:xfrm>
          <a:prstGeom prst="rect">
            <a:avLst/>
          </a:prstGeom>
          <a:noFill/>
          <a:ln>
            <a:noFill/>
          </a:ln>
        </p:spPr>
        <p:txBody>
          <a:bodyPr spcFirstLastPara="1" wrap="square" lIns="91425" tIns="45700" rIns="91425" bIns="45700" anchor="ctr" anchorCtr="0">
            <a:spAutoFit/>
          </a:bodyPr>
          <a:lstStyle/>
          <a:p>
            <a:pPr>
              <a:lnSpc>
                <a:spcPct val="150000"/>
              </a:lnSpc>
              <a:buNone/>
            </a:pPr>
            <a:endParaRPr lang="en-US" sz="2000"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Manual Diagnosis by Ophthalmologists</a:t>
            </a:r>
            <a:endParaRPr lang="en-US" sz="1600" dirty="0">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Requires expert knowledge to analyze Optical Coherence Tomography (OCT) scans.</a:t>
            </a:r>
          </a:p>
          <a:p>
            <a:pPr marL="800100" lvl="1" indent="-342900">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Time-consuming and prone to human error.</a:t>
            </a:r>
          </a:p>
          <a:p>
            <a:pPr marL="800100" lvl="1" indent="-342900">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Inconsistent results due to variations in expertise and interpretation.</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Traditional Machine Learning Approaches</a:t>
            </a:r>
            <a:endParaRPr lang="en-US" sz="1600" dirty="0">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Uses hand-engineered features such as texture and edge detection.</a:t>
            </a:r>
          </a:p>
          <a:p>
            <a:pPr marL="800100" lvl="1" indent="-342900">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Performance depends on feature selection, requiring domain expertise.</a:t>
            </a:r>
          </a:p>
          <a:p>
            <a:pPr marL="800100" lvl="1" indent="-342900">
              <a:lnSpc>
                <a:spcPct val="15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Struggles with complex patterns in medical images.</a:t>
            </a: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Challenges in Existing Methods</a:t>
            </a:r>
            <a:endParaRPr lang="en-US" sz="1600" dirty="0">
              <a:latin typeface="Times New Roman" panose="02020603050405020304" pitchFamily="18" charset="0"/>
              <a:cs typeface="Times New Roman" panose="02020603050405020304" pitchFamily="18" charset="0"/>
            </a:endParaRPr>
          </a:p>
          <a:p>
            <a:pPr marL="800100" lvl="1" indent="-342900">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High Misclassification Rates:</a:t>
            </a:r>
            <a:r>
              <a:rPr lang="en-US" sz="1600" dirty="0">
                <a:latin typeface="Times New Roman" panose="02020603050405020304" pitchFamily="18" charset="0"/>
                <a:cs typeface="Times New Roman" panose="02020603050405020304" pitchFamily="18" charset="0"/>
              </a:rPr>
              <a:t> Traditional models fail to generalize across different patient datasets.</a:t>
            </a:r>
          </a:p>
          <a:p>
            <a:pPr marL="800100" lvl="1" indent="-342900">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Lack of Real-time Diagnosis:</a:t>
            </a:r>
            <a:r>
              <a:rPr lang="en-US" sz="1600" dirty="0">
                <a:latin typeface="Times New Roman" panose="02020603050405020304" pitchFamily="18" charset="0"/>
                <a:cs typeface="Times New Roman" panose="02020603050405020304" pitchFamily="18" charset="0"/>
              </a:rPr>
              <a:t> Manual assessments delay early detection and treatment.</a:t>
            </a:r>
          </a:p>
          <a:p>
            <a:pPr marL="800100" lvl="1" indent="-342900">
              <a:lnSpc>
                <a:spcPct val="15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Limited Scalability:</a:t>
            </a:r>
            <a:r>
              <a:rPr lang="en-US" sz="1600" dirty="0">
                <a:latin typeface="Times New Roman" panose="02020603050405020304" pitchFamily="18" charset="0"/>
                <a:cs typeface="Times New Roman" panose="02020603050405020304" pitchFamily="18" charset="0"/>
              </a:rPr>
              <a:t> Cannot handle large datasets efficiently.</a:t>
            </a:r>
          </a:p>
          <a:p>
            <a:pPr marR="0" lvl="0" algn="just" rtl="0">
              <a:lnSpc>
                <a:spcPct val="150000"/>
              </a:lnSpc>
              <a:spcBef>
                <a:spcPts val="0"/>
              </a:spcBef>
              <a:spcAft>
                <a:spcPts val="0"/>
              </a:spcAft>
              <a:buClr>
                <a:schemeClr val="dk1"/>
              </a:buClr>
              <a:buSzPts val="1800"/>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0"/>
          <p:cNvSpPr txBox="1">
            <a:spLocks noGrp="1"/>
          </p:cNvSpPr>
          <p:nvPr>
            <p:ph type="title"/>
          </p:nvPr>
        </p:nvSpPr>
        <p:spPr>
          <a:xfrm>
            <a:off x="710184" y="566293"/>
            <a:ext cx="7345680" cy="1079627"/>
          </a:xfrm>
          <a:prstGeom prst="rect">
            <a:avLst/>
          </a:prstGeom>
          <a:noFill/>
          <a:ln>
            <a:noFill/>
          </a:ln>
        </p:spPr>
        <p:txBody>
          <a:bodyPr spcFirstLastPara="1" wrap="square" lIns="91425" tIns="45700" rIns="91425" bIns="45700" anchor="ctr" anchorCtr="0">
            <a:normAutofit/>
          </a:bodyPr>
          <a:lstStyle/>
          <a:p>
            <a:pPr>
              <a:buSzPts val="4000"/>
            </a:pPr>
            <a:r>
              <a:rPr lang="en-US" sz="4000" b="1" dirty="0">
                <a:latin typeface="Times New Roman" panose="02020603050405020304" pitchFamily="18" charset="0"/>
                <a:cs typeface="Times New Roman" panose="02020603050405020304" pitchFamily="18" charset="0"/>
              </a:rPr>
              <a:t>PROPOSED SYSTEM</a:t>
            </a:r>
            <a:endParaRPr lang="en-US" sz="4000" dirty="0"/>
          </a:p>
        </p:txBody>
      </p:sp>
      <p:sp>
        <p:nvSpPr>
          <p:cNvPr id="137" name="Google Shape;137;p10"/>
          <p:cNvSpPr txBox="1">
            <a:spLocks noGrp="1"/>
          </p:cNvSpPr>
          <p:nvPr>
            <p:ph type="body" idx="1"/>
          </p:nvPr>
        </p:nvSpPr>
        <p:spPr>
          <a:xfrm>
            <a:off x="326401" y="1027906"/>
            <a:ext cx="11355532" cy="5199158"/>
          </a:xfrm>
          <a:prstGeom prst="rect">
            <a:avLst/>
          </a:prstGeom>
          <a:noFill/>
          <a:ln>
            <a:noFill/>
          </a:ln>
        </p:spPr>
        <p:txBody>
          <a:bodyPr spcFirstLastPara="1" wrap="square" lIns="91425" tIns="45700" rIns="91425" bIns="45700" anchor="t" anchorCtr="0">
            <a:noAutofit/>
          </a:bodyPr>
          <a:lstStyle/>
          <a:p>
            <a:pPr>
              <a:buNone/>
            </a:pPr>
            <a:endParaRPr lang="en-US" b="1" dirty="0"/>
          </a:p>
          <a:p>
            <a:pPr>
              <a:lnSpc>
                <a:spcPct val="1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Deep Learning-Based CNN Model</a:t>
            </a:r>
            <a:endParaRPr lang="en-US" sz="1600" dirty="0">
              <a:latin typeface="Times New Roman" panose="02020603050405020304" pitchFamily="18" charset="0"/>
              <a:cs typeface="Times New Roman" panose="02020603050405020304" pitchFamily="18" charset="0"/>
            </a:endParaRPr>
          </a:p>
          <a:p>
            <a:pPr marL="742950" lvl="1" indent="-285750">
              <a:lnSpc>
                <a:spcPct val="10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Automatically learns features from OCT scans, eliminating manual feature engineering.</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End-to-End Classification</a:t>
            </a:r>
            <a:r>
              <a:rPr lang="en-US" sz="1600" dirty="0">
                <a:latin typeface="Times New Roman" panose="02020603050405020304" pitchFamily="18" charset="0"/>
                <a:cs typeface="Times New Roman" panose="02020603050405020304" pitchFamily="18" charset="0"/>
              </a:rPr>
              <a:t> of macular diseases, reducing the need for human intervention.</a:t>
            </a:r>
          </a:p>
          <a:p>
            <a:pPr marL="742950" lvl="1" indent="-285750">
              <a:lnSpc>
                <a:spcPct val="10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Uses </a:t>
            </a:r>
            <a:r>
              <a:rPr lang="en-US" sz="1600" b="1" dirty="0">
                <a:latin typeface="Times New Roman" panose="02020603050405020304" pitchFamily="18" charset="0"/>
                <a:cs typeface="Times New Roman" panose="02020603050405020304" pitchFamily="18" charset="0"/>
              </a:rPr>
              <a:t>Convolutional Neural Networks (CNNs)</a:t>
            </a:r>
            <a:r>
              <a:rPr lang="en-US" sz="1600" dirty="0">
                <a:latin typeface="Times New Roman" panose="02020603050405020304" pitchFamily="18" charset="0"/>
                <a:cs typeface="Times New Roman" panose="02020603050405020304" pitchFamily="18" charset="0"/>
              </a:rPr>
              <a:t> to extract spatial hierarchies of features.</a:t>
            </a:r>
          </a:p>
          <a:p>
            <a:pPr>
              <a:lnSpc>
                <a:spcPct val="1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Key Enhancements Over Existing System</a:t>
            </a:r>
            <a:endParaRPr lang="en-US" sz="1600" dirty="0">
              <a:latin typeface="Times New Roman" panose="02020603050405020304" pitchFamily="18" charset="0"/>
              <a:cs typeface="Times New Roman" panose="02020603050405020304" pitchFamily="18" charset="0"/>
            </a:endParaRP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Automated Image Preprocessing:</a:t>
            </a:r>
            <a:r>
              <a:rPr lang="en-US" sz="1600" dirty="0">
                <a:latin typeface="Times New Roman" panose="02020603050405020304" pitchFamily="18" charset="0"/>
                <a:cs typeface="Times New Roman" panose="02020603050405020304" pitchFamily="18" charset="0"/>
              </a:rPr>
              <a:t> Enhances image contrast, reduces noise, and normalizes data for better learning.</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Data Augmentation:</a:t>
            </a:r>
            <a:r>
              <a:rPr lang="en-US" sz="1600" dirty="0">
                <a:latin typeface="Times New Roman" panose="02020603050405020304" pitchFamily="18" charset="0"/>
                <a:cs typeface="Times New Roman" panose="02020603050405020304" pitchFamily="18" charset="0"/>
              </a:rPr>
              <a:t> Increases dataset size with flipped, rotated, and transformed images for improved generalization.</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Hyperparameter Optimization:</a:t>
            </a:r>
            <a:r>
              <a:rPr lang="en-US" sz="1600" dirty="0">
                <a:latin typeface="Times New Roman" panose="02020603050405020304" pitchFamily="18" charset="0"/>
                <a:cs typeface="Times New Roman" panose="02020603050405020304" pitchFamily="18" charset="0"/>
              </a:rPr>
              <a:t> Fine-tuned learning rate, batch size, and dropout layers to prevent overfitting.</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Multi-Class Classification:</a:t>
            </a:r>
            <a:r>
              <a:rPr lang="en-US" sz="1600" dirty="0">
                <a:latin typeface="Times New Roman" panose="02020603050405020304" pitchFamily="18" charset="0"/>
                <a:cs typeface="Times New Roman" panose="02020603050405020304" pitchFamily="18" charset="0"/>
              </a:rPr>
              <a:t> Detects different macular conditions with high accuracy.</a:t>
            </a:r>
          </a:p>
          <a:p>
            <a:pPr>
              <a:lnSpc>
                <a:spcPct val="1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Advantages of the Proposed System</a:t>
            </a:r>
            <a:endParaRPr lang="en-US" sz="1600" dirty="0">
              <a:latin typeface="Times New Roman" panose="02020603050405020304" pitchFamily="18" charset="0"/>
              <a:cs typeface="Times New Roman" panose="02020603050405020304" pitchFamily="18" charset="0"/>
            </a:endParaRP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Improved Accuracy:</a:t>
            </a:r>
            <a:r>
              <a:rPr lang="en-US" sz="1600" dirty="0">
                <a:latin typeface="Times New Roman" panose="02020603050405020304" pitchFamily="18" charset="0"/>
                <a:cs typeface="Times New Roman" panose="02020603050405020304" pitchFamily="18" charset="0"/>
              </a:rPr>
              <a:t> Achieves </a:t>
            </a:r>
            <a:r>
              <a:rPr lang="en-US" sz="1600" b="1" dirty="0">
                <a:latin typeface="Times New Roman" panose="02020603050405020304" pitchFamily="18" charset="0"/>
                <a:cs typeface="Times New Roman" panose="02020603050405020304" pitchFamily="18" charset="0"/>
              </a:rPr>
              <a:t>94.2% accuracy</a:t>
            </a:r>
            <a:r>
              <a:rPr lang="en-US" sz="1600" dirty="0">
                <a:latin typeface="Times New Roman" panose="02020603050405020304" pitchFamily="18" charset="0"/>
                <a:cs typeface="Times New Roman" panose="02020603050405020304" pitchFamily="18" charset="0"/>
              </a:rPr>
              <a:t>, outperforming traditional methods.</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Faster Diagnosis:</a:t>
            </a:r>
            <a:r>
              <a:rPr lang="en-US" sz="1600" dirty="0">
                <a:latin typeface="Times New Roman" panose="02020603050405020304" pitchFamily="18" charset="0"/>
                <a:cs typeface="Times New Roman" panose="02020603050405020304" pitchFamily="18" charset="0"/>
              </a:rPr>
              <a:t> AI-based system provides real-time classification.</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Scalability:</a:t>
            </a:r>
            <a:r>
              <a:rPr lang="en-US" sz="1600" dirty="0">
                <a:latin typeface="Times New Roman" panose="02020603050405020304" pitchFamily="18" charset="0"/>
                <a:cs typeface="Times New Roman" panose="02020603050405020304" pitchFamily="18" charset="0"/>
              </a:rPr>
              <a:t> Can analyze thousands of OCT images efficiently.</a:t>
            </a:r>
          </a:p>
          <a:p>
            <a:pPr marL="742950" lvl="1" indent="-285750">
              <a:lnSpc>
                <a:spcPct val="100000"/>
              </a:lnSpc>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Reduced Human Error:</a:t>
            </a:r>
            <a:r>
              <a:rPr lang="en-US" sz="1600" dirty="0">
                <a:latin typeface="Times New Roman" panose="02020603050405020304" pitchFamily="18" charset="0"/>
                <a:cs typeface="Times New Roman" panose="02020603050405020304" pitchFamily="18" charset="0"/>
              </a:rPr>
              <a:t> Eliminates subjectivity in medical diagnoses.</a:t>
            </a:r>
          </a:p>
          <a:p>
            <a:pPr marL="0" lvl="0" indent="0" algn="just" rtl="0">
              <a:lnSpc>
                <a:spcPct val="150000"/>
              </a:lnSpc>
              <a:spcBef>
                <a:spcPts val="0"/>
              </a:spcBef>
              <a:spcAft>
                <a:spcPts val="0"/>
              </a:spcAft>
              <a:buClr>
                <a:schemeClr val="dk1"/>
              </a:buClr>
              <a:buSzPts val="1800"/>
              <a:buNone/>
            </a:pP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SOFTWARE REQURIEMENTS</a:t>
            </a:r>
            <a:endParaRPr b="1" dirty="0"/>
          </a:p>
        </p:txBody>
      </p:sp>
      <p:sp>
        <p:nvSpPr>
          <p:cNvPr id="150" name="Google Shape;150;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2610"/>
              <a:buNone/>
            </a:pPr>
            <a:r>
              <a:rPr lang="en-IN" dirty="0">
                <a:latin typeface="Times New Roman"/>
                <a:ea typeface="Times New Roman"/>
                <a:cs typeface="Times New Roman"/>
                <a:sym typeface="Times New Roman"/>
              </a:rPr>
              <a:t>	1. Software Requirements:</a:t>
            </a:r>
            <a:endParaRPr dirty="0"/>
          </a:p>
          <a:p>
            <a:pPr marL="0" lvl="0" indent="0" algn="l" rtl="0">
              <a:lnSpc>
                <a:spcPct val="100000"/>
              </a:lnSpc>
              <a:spcBef>
                <a:spcPts val="960"/>
              </a:spcBef>
              <a:spcAft>
                <a:spcPts val="0"/>
              </a:spcAft>
              <a:buClr>
                <a:schemeClr val="dk1"/>
              </a:buClr>
              <a:buSzPts val="2610"/>
              <a:buNone/>
            </a:pPr>
            <a:r>
              <a:rPr lang="en-IN" dirty="0">
                <a:latin typeface="Times New Roman"/>
                <a:ea typeface="Times New Roman"/>
                <a:cs typeface="Times New Roman"/>
                <a:sym typeface="Times New Roman"/>
              </a:rPr>
              <a:t>		Operating System : Windows / Linux</a:t>
            </a:r>
            <a:endParaRPr dirty="0"/>
          </a:p>
          <a:p>
            <a:pPr marL="0" lvl="0" indent="0" algn="l" rtl="0">
              <a:lnSpc>
                <a:spcPct val="100000"/>
              </a:lnSpc>
              <a:spcBef>
                <a:spcPts val="960"/>
              </a:spcBef>
              <a:spcAft>
                <a:spcPts val="0"/>
              </a:spcAft>
              <a:buClr>
                <a:schemeClr val="dk1"/>
              </a:buClr>
              <a:buSzPts val="2610"/>
              <a:buNone/>
            </a:pPr>
            <a:r>
              <a:rPr lang="en-IN" dirty="0">
                <a:latin typeface="Times New Roman"/>
                <a:ea typeface="Times New Roman"/>
                <a:cs typeface="Times New Roman"/>
                <a:sym typeface="Times New Roman"/>
              </a:rPr>
              <a:t>		Simulation Tool : Microsoft Visual Studio Code</a:t>
            </a:r>
            <a:endParaRPr dirty="0"/>
          </a:p>
          <a:p>
            <a:pPr marL="0" lvl="0" indent="0" algn="l" rtl="0">
              <a:lnSpc>
                <a:spcPct val="100000"/>
              </a:lnSpc>
              <a:spcBef>
                <a:spcPts val="960"/>
              </a:spcBef>
              <a:spcAft>
                <a:spcPts val="0"/>
              </a:spcAft>
              <a:buClr>
                <a:schemeClr val="dk1"/>
              </a:buClr>
              <a:buSzPts val="2610"/>
              <a:buNone/>
            </a:pPr>
            <a:r>
              <a:rPr lang="en-IN" dirty="0">
                <a:latin typeface="Times New Roman"/>
                <a:ea typeface="Times New Roman"/>
                <a:cs typeface="Times New Roman"/>
                <a:sym typeface="Times New Roman"/>
              </a:rPr>
              <a:t>	2. Hardware requirements:</a:t>
            </a:r>
            <a:endParaRPr dirty="0"/>
          </a:p>
          <a:p>
            <a:pPr marL="0" lvl="0" indent="0" algn="l" rtl="0">
              <a:lnSpc>
                <a:spcPct val="100000"/>
              </a:lnSpc>
              <a:spcBef>
                <a:spcPts val="960"/>
              </a:spcBef>
              <a:spcAft>
                <a:spcPts val="0"/>
              </a:spcAft>
              <a:buClr>
                <a:schemeClr val="dk1"/>
              </a:buClr>
              <a:buSzPts val="2610"/>
              <a:buNone/>
            </a:pPr>
            <a:r>
              <a:rPr lang="en-IN" dirty="0">
                <a:latin typeface="Times New Roman"/>
                <a:ea typeface="Times New Roman"/>
                <a:cs typeface="Times New Roman"/>
                <a:sym typeface="Times New Roman"/>
              </a:rPr>
              <a:t>		Processor : i3/i5 gen </a:t>
            </a:r>
          </a:p>
          <a:p>
            <a:pPr marL="0" lvl="0" indent="0" algn="l" rtl="0">
              <a:lnSpc>
                <a:spcPct val="100000"/>
              </a:lnSpc>
              <a:spcBef>
                <a:spcPts val="960"/>
              </a:spcBef>
              <a:spcAft>
                <a:spcPts val="0"/>
              </a:spcAft>
              <a:buClr>
                <a:schemeClr val="dk1"/>
              </a:buClr>
              <a:buSzPts val="2610"/>
              <a:buNone/>
            </a:pPr>
            <a:r>
              <a:rPr lang="en-IN" dirty="0"/>
              <a:t>		</a:t>
            </a:r>
            <a:r>
              <a:rPr lang="en-IN" dirty="0">
                <a:latin typeface="Times New Roman" panose="02020603050405020304" pitchFamily="18" charset="0"/>
                <a:cs typeface="Times New Roman" panose="02020603050405020304" pitchFamily="18" charset="0"/>
              </a:rPr>
              <a:t>GPU : Iris Xe (optional) </a:t>
            </a:r>
            <a:endParaRPr dirty="0">
              <a:latin typeface="Times New Roman" panose="02020603050405020304" pitchFamily="18" charset="0"/>
              <a:cs typeface="Times New Roman" panose="02020603050405020304" pitchFamily="18" charset="0"/>
            </a:endParaRPr>
          </a:p>
          <a:p>
            <a:pPr marL="0" lvl="0" indent="0" algn="l" rtl="0">
              <a:lnSpc>
                <a:spcPct val="100000"/>
              </a:lnSpc>
              <a:spcBef>
                <a:spcPts val="960"/>
              </a:spcBef>
              <a:spcAft>
                <a:spcPts val="0"/>
              </a:spcAft>
              <a:buClr>
                <a:schemeClr val="dk1"/>
              </a:buClr>
              <a:buSzPts val="2610"/>
              <a:buNone/>
            </a:pPr>
            <a:r>
              <a:rPr lang="en-IN" dirty="0">
                <a:latin typeface="Times New Roman"/>
                <a:ea typeface="Times New Roman"/>
                <a:cs typeface="Times New Roman"/>
                <a:sym typeface="Times New Roman"/>
              </a:rPr>
              <a:t>		Hard disk : minimum 256 GB</a:t>
            </a:r>
            <a:endParaRPr dirty="0"/>
          </a:p>
          <a:p>
            <a:pPr marL="0" lvl="0" indent="0" algn="l" rtl="0">
              <a:lnSpc>
                <a:spcPct val="100000"/>
              </a:lnSpc>
              <a:spcBef>
                <a:spcPts val="960"/>
              </a:spcBef>
              <a:spcAft>
                <a:spcPts val="0"/>
              </a:spcAft>
              <a:buClr>
                <a:schemeClr val="dk1"/>
              </a:buClr>
              <a:buSzPts val="2610"/>
              <a:buNone/>
            </a:pPr>
            <a:r>
              <a:rPr lang="en-IN" dirty="0">
                <a:latin typeface="Times New Roman"/>
                <a:ea typeface="Times New Roman"/>
                <a:cs typeface="Times New Roman"/>
                <a:sym typeface="Times New Roman"/>
              </a:rPr>
              <a:t>		RAM : minimum 4 GB</a:t>
            </a:r>
          </a:p>
          <a:p>
            <a:pPr marL="0" lvl="0" indent="0" algn="l" rtl="0">
              <a:lnSpc>
                <a:spcPct val="100000"/>
              </a:lnSpc>
              <a:spcBef>
                <a:spcPts val="960"/>
              </a:spcBef>
              <a:spcAft>
                <a:spcPts val="0"/>
              </a:spcAft>
              <a:buClr>
                <a:schemeClr val="dk1"/>
              </a:buClr>
              <a:buSzPts val="261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ARCHITECTURE DIAGRAM</a:t>
            </a:r>
            <a:br>
              <a:rPr lang="en-IN" dirty="0"/>
            </a:br>
            <a:endParaRPr dirty="0"/>
          </a:p>
        </p:txBody>
      </p:sp>
      <p:pic>
        <p:nvPicPr>
          <p:cNvPr id="144" name="Google Shape;144;p11" descr="C:\Users\TEMP.PEC0.006\Downloads\bioengineering-10-00823-g001.png"/>
          <p:cNvPicPr preferRelativeResize="0"/>
          <p:nvPr/>
        </p:nvPicPr>
        <p:blipFill rotWithShape="1">
          <a:blip r:embed="rId3">
            <a:alphaModFix/>
          </a:blip>
          <a:srcRect/>
          <a:stretch/>
        </p:blipFill>
        <p:spPr>
          <a:xfrm>
            <a:off x="462844" y="1037687"/>
            <a:ext cx="11266312" cy="55168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982BF-EB19-32C0-4D52-306F725810E8}"/>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USECASE DIAGRAM</a:t>
            </a:r>
          </a:p>
        </p:txBody>
      </p:sp>
      <p:pic>
        <p:nvPicPr>
          <p:cNvPr id="4" name="Content Placeholder 3" descr="Capture1">
            <a:extLst>
              <a:ext uri="{FF2B5EF4-FFF2-40B4-BE49-F238E27FC236}">
                <a16:creationId xmlns:a16="http://schemas.microsoft.com/office/drawing/2014/main" id="{D2DFBFBF-7D26-336A-9007-EAF7F6A45189}"/>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652823" y="1744644"/>
            <a:ext cx="5959549" cy="4162425"/>
          </a:xfrm>
          <a:prstGeom prst="rect">
            <a:avLst/>
          </a:prstGeom>
          <a:noFill/>
          <a:ln>
            <a:noFill/>
          </a:ln>
        </p:spPr>
      </p:pic>
    </p:spTree>
    <p:extLst>
      <p:ext uri="{BB962C8B-B14F-4D97-AF65-F5344CB8AC3E}">
        <p14:creationId xmlns:p14="http://schemas.microsoft.com/office/powerpoint/2010/main" val="1877955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E529E-F674-D358-D1D8-7CDA390CE0AD}"/>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CLASS DIAGRAM</a:t>
            </a:r>
          </a:p>
        </p:txBody>
      </p:sp>
      <p:pic>
        <p:nvPicPr>
          <p:cNvPr id="4" name="Content Placeholder 4">
            <a:extLst>
              <a:ext uri="{FF2B5EF4-FFF2-40B4-BE49-F238E27FC236}">
                <a16:creationId xmlns:a16="http://schemas.microsoft.com/office/drawing/2014/main" id="{C3668CE8-BDE7-6748-1E9E-27BA0C8AE3A2}"/>
              </a:ext>
            </a:extLst>
          </p:cNvPr>
          <p:cNvPicPr>
            <a:picLocks noChangeAspect="1"/>
          </p:cNvPicPr>
          <p:nvPr/>
        </p:nvPicPr>
        <p:blipFill>
          <a:blip r:embed="rId2"/>
          <a:stretch>
            <a:fillRect/>
          </a:stretch>
        </p:blipFill>
        <p:spPr>
          <a:xfrm>
            <a:off x="1547037" y="1792569"/>
            <a:ext cx="8734647" cy="4163006"/>
          </a:xfrm>
          <a:prstGeom prst="rect">
            <a:avLst/>
          </a:prstGeom>
          <a:noFill/>
          <a:ln>
            <a:noFill/>
          </a:ln>
        </p:spPr>
      </p:pic>
    </p:spTree>
    <p:extLst>
      <p:ext uri="{BB962C8B-B14F-4D97-AF65-F5344CB8AC3E}">
        <p14:creationId xmlns:p14="http://schemas.microsoft.com/office/powerpoint/2010/main" val="3380844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47EE6-8C3D-383C-CE2B-A128F49DA319}"/>
              </a:ext>
            </a:extLst>
          </p:cNvPr>
          <p:cNvSpPr>
            <a:spLocks noGrp="1"/>
          </p:cNvSpPr>
          <p:nvPr>
            <p:ph type="title"/>
          </p:nvPr>
        </p:nvSpPr>
        <p:spPr/>
        <p:txBody>
          <a:bodyPr>
            <a:normAutofit/>
          </a:bodyPr>
          <a:lstStyle/>
          <a:p>
            <a:r>
              <a:rPr lang="en-AU" sz="4000" b="1" dirty="0">
                <a:latin typeface="Times New Roman" panose="02020603050405020304" pitchFamily="18" charset="0"/>
                <a:cs typeface="Times New Roman" panose="02020603050405020304" pitchFamily="18" charset="0"/>
              </a:rPr>
              <a:t>ER DIAGRAM</a:t>
            </a:r>
            <a:endParaRPr lang="en-IN" sz="40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82068266-6BF3-AD5E-2D8F-B733996CB43C}"/>
              </a:ext>
            </a:extLst>
          </p:cNvPr>
          <p:cNvPicPr>
            <a:picLocks/>
          </p:cNvPicPr>
          <p:nvPr/>
        </p:nvPicPr>
        <p:blipFill>
          <a:blip r:embed="rId2"/>
          <a:stretch>
            <a:fillRect/>
          </a:stretch>
        </p:blipFill>
        <p:spPr>
          <a:xfrm>
            <a:off x="1834115" y="2162563"/>
            <a:ext cx="8086061" cy="3571875"/>
          </a:xfrm>
          <a:prstGeom prst="rect">
            <a:avLst/>
          </a:prstGeom>
          <a:noFill/>
          <a:ln>
            <a:noFill/>
          </a:ln>
        </p:spPr>
      </p:pic>
    </p:spTree>
    <p:extLst>
      <p:ext uri="{BB962C8B-B14F-4D97-AF65-F5344CB8AC3E}">
        <p14:creationId xmlns:p14="http://schemas.microsoft.com/office/powerpoint/2010/main" val="1085302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9F14D-6FE2-7B2B-102B-3106E9455FE3}"/>
              </a:ext>
            </a:extLst>
          </p:cNvPr>
          <p:cNvSpPr>
            <a:spLocks noGrp="1"/>
          </p:cNvSpPr>
          <p:nvPr>
            <p:ph type="title"/>
          </p:nvPr>
        </p:nvSpPr>
        <p:spPr>
          <a:xfrm>
            <a:off x="838200" y="621410"/>
            <a:ext cx="10515600" cy="1372235"/>
          </a:xfrm>
        </p:spPr>
        <p:txBody>
          <a:bodyPr>
            <a:normAutofit/>
          </a:bodyPr>
          <a:lstStyle/>
          <a:p>
            <a:r>
              <a:rPr lang="en-US" sz="4000" b="1" dirty="0">
                <a:latin typeface="Times New Roman" panose="02020603050405020304" pitchFamily="18" charset="0"/>
                <a:cs typeface="Times New Roman" panose="02020603050405020304" pitchFamily="18" charset="0"/>
              </a:rPr>
              <a:t>CNN ARCHITECTURE</a:t>
            </a:r>
            <a:br>
              <a:rPr lang="en-US" b="1" dirty="0"/>
            </a:br>
            <a:endParaRPr lang="en-IN" dirty="0"/>
          </a:p>
        </p:txBody>
      </p:sp>
      <p:sp>
        <p:nvSpPr>
          <p:cNvPr id="3" name="Text Placeholder 2">
            <a:extLst>
              <a:ext uri="{FF2B5EF4-FFF2-40B4-BE49-F238E27FC236}">
                <a16:creationId xmlns:a16="http://schemas.microsoft.com/office/drawing/2014/main" id="{55C12E0C-A800-BDF9-1D23-617618904523}"/>
              </a:ext>
            </a:extLst>
          </p:cNvPr>
          <p:cNvSpPr>
            <a:spLocks noGrp="1"/>
          </p:cNvSpPr>
          <p:nvPr>
            <p:ph type="body" idx="1"/>
          </p:nvPr>
        </p:nvSpPr>
        <p:spPr>
          <a:xfrm>
            <a:off x="838200" y="1478153"/>
            <a:ext cx="10515600" cy="4351338"/>
          </a:xfrm>
        </p:spPr>
        <p:txBody>
          <a:bodyPr>
            <a:normAutofit/>
          </a:bodyPr>
          <a:lstStyle/>
          <a:p>
            <a:pPr>
              <a:buNone/>
            </a:pPr>
            <a:r>
              <a:rPr lang="en-US" b="1" dirty="0">
                <a:latin typeface="Times New Roman" panose="02020603050405020304" pitchFamily="18" charset="0"/>
                <a:cs typeface="Times New Roman" panose="02020603050405020304" pitchFamily="18" charset="0"/>
              </a:rPr>
              <a:t>Our Model Structure</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Convolutional Layers:</a:t>
            </a:r>
            <a:r>
              <a:rPr lang="en-US" sz="2000" dirty="0">
                <a:latin typeface="Times New Roman" panose="02020603050405020304" pitchFamily="18" charset="0"/>
                <a:cs typeface="Times New Roman" panose="02020603050405020304" pitchFamily="18" charset="0"/>
              </a:rPr>
              <a:t> Extract patterns like edges and textures.</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Pooling Layers: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Downsampling</a:t>
            </a:r>
            <a:r>
              <a:rPr lang="en-US" sz="2000" dirty="0">
                <a:latin typeface="Times New Roman" panose="02020603050405020304" pitchFamily="18" charset="0"/>
                <a:cs typeface="Times New Roman" panose="02020603050405020304" pitchFamily="18" charset="0"/>
              </a:rPr>
              <a:t> to retain key features and reduce computations.</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Flattening Layer:</a:t>
            </a:r>
            <a:r>
              <a:rPr lang="en-US" sz="2000" dirty="0">
                <a:latin typeface="Times New Roman" panose="02020603050405020304" pitchFamily="18" charset="0"/>
                <a:cs typeface="Times New Roman" panose="02020603050405020304" pitchFamily="18" charset="0"/>
              </a:rPr>
              <a:t> Converts 2D feature maps into a single vector.</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Fully Connected Layers:</a:t>
            </a:r>
            <a:r>
              <a:rPr lang="en-US" sz="2000" dirty="0">
                <a:latin typeface="Times New Roman" panose="02020603050405020304" pitchFamily="18" charset="0"/>
                <a:cs typeface="Times New Roman" panose="02020603050405020304" pitchFamily="18" charset="0"/>
              </a:rPr>
              <a:t> Predicts the final class (disease type).</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Activation Functions:</a:t>
            </a:r>
            <a:endParaRPr lang="en-US" sz="2000" dirty="0">
              <a:latin typeface="Times New Roman" panose="02020603050405020304" pitchFamily="18" charset="0"/>
              <a:cs typeface="Times New Roman" panose="02020603050405020304" pitchFamily="18" charset="0"/>
            </a:endParaRPr>
          </a:p>
          <a:p>
            <a:pPr marL="800100" lvl="1">
              <a:buFont typeface="Wingdings" panose="05000000000000000000" pitchFamily="2" charset="2"/>
              <a:buChar char="§"/>
            </a:pPr>
            <a:r>
              <a:rPr lang="en-US" sz="2000" b="1"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Introduces non-linearity, helping the model learn complex features.</a:t>
            </a:r>
          </a:p>
          <a:p>
            <a:pPr marL="800100" lvl="1">
              <a:buFont typeface="Wingdings" panose="05000000000000000000" pitchFamily="2" charset="2"/>
              <a:buChar char="§"/>
            </a:pPr>
            <a:r>
              <a:rPr lang="en-US" sz="2000" b="1" dirty="0" err="1">
                <a:latin typeface="Times New Roman" panose="02020603050405020304" pitchFamily="18" charset="0"/>
                <a:cs typeface="Times New Roman" panose="02020603050405020304" pitchFamily="18" charset="0"/>
              </a:rPr>
              <a:t>Softmax</a:t>
            </a:r>
            <a:r>
              <a:rPr lang="en-US" sz="2000" dirty="0">
                <a:latin typeface="Times New Roman" panose="02020603050405020304" pitchFamily="18" charset="0"/>
                <a:cs typeface="Times New Roman" panose="02020603050405020304" pitchFamily="18" charset="0"/>
              </a:rPr>
              <a:t>: Outputs probabilities for disease classification.</a:t>
            </a:r>
          </a:p>
          <a:p>
            <a:endParaRPr lang="en-IN" dirty="0"/>
          </a:p>
        </p:txBody>
      </p:sp>
    </p:spTree>
    <p:extLst>
      <p:ext uri="{BB962C8B-B14F-4D97-AF65-F5344CB8AC3E}">
        <p14:creationId xmlns:p14="http://schemas.microsoft.com/office/powerpoint/2010/main" val="2878039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107D2-319E-8B77-1191-FC43B76A5C76}"/>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DATASET &amp; PREPROCESSING</a:t>
            </a:r>
            <a:endParaRPr lang="en-IN" sz="40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590D4DA-1958-3E2D-98C1-A5EF0DBE470A}"/>
              </a:ext>
            </a:extLst>
          </p:cNvPr>
          <p:cNvSpPr>
            <a:spLocks noGrp="1"/>
          </p:cNvSpPr>
          <p:nvPr>
            <p:ph type="body" idx="1"/>
          </p:nvPr>
        </p:nvSpPr>
        <p:spPr/>
        <p:txBody>
          <a:bodyPr>
            <a:normAutofit/>
          </a:bodyPr>
          <a:lstStyle/>
          <a:p>
            <a:pPr>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Dataset Description</a:t>
            </a:r>
          </a:p>
          <a:p>
            <a:pPr lvl="1">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OCT image dataset sourced from </a:t>
            </a:r>
            <a:r>
              <a:rPr lang="en-IN" sz="1600" b="1" dirty="0">
                <a:latin typeface="Times New Roman" panose="02020603050405020304" pitchFamily="18" charset="0"/>
                <a:cs typeface="Times New Roman" panose="02020603050405020304" pitchFamily="18" charset="0"/>
              </a:rPr>
              <a:t>[dataset source, e.g., Kaggle, hospital records]</a:t>
            </a:r>
            <a:r>
              <a:rPr lang="en-IN" sz="1600" dirty="0">
                <a:latin typeface="Times New Roman" panose="02020603050405020304" pitchFamily="18" charset="0"/>
                <a:cs typeface="Times New Roman" panose="02020603050405020304" pitchFamily="18" charset="0"/>
              </a:rPr>
              <a:t>.</a:t>
            </a:r>
          </a:p>
          <a:p>
            <a:pPr lvl="1">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Images categorized into </a:t>
            </a:r>
            <a:r>
              <a:rPr lang="en-IN" sz="1600" b="1" dirty="0">
                <a:latin typeface="Times New Roman" panose="02020603050405020304" pitchFamily="18" charset="0"/>
                <a:cs typeface="Times New Roman" panose="02020603050405020304" pitchFamily="18" charset="0"/>
              </a:rPr>
              <a:t>normal, AMD, DME, and other conditions</a:t>
            </a:r>
            <a:r>
              <a:rPr lang="en-IN" sz="16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Preprocessing Techniques</a:t>
            </a:r>
          </a:p>
          <a:p>
            <a:pPr lvl="1">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Image Resizing:</a:t>
            </a:r>
            <a:r>
              <a:rPr lang="en-IN" sz="1600" dirty="0">
                <a:latin typeface="Times New Roman" panose="02020603050405020304" pitchFamily="18" charset="0"/>
                <a:cs typeface="Times New Roman" panose="02020603050405020304" pitchFamily="18" charset="0"/>
              </a:rPr>
              <a:t> Standardizing image dimensions for model input.</a:t>
            </a:r>
          </a:p>
          <a:p>
            <a:pPr lvl="1">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Contrast Enhancement:</a:t>
            </a:r>
            <a:r>
              <a:rPr lang="en-IN" sz="1600" dirty="0">
                <a:latin typeface="Times New Roman" panose="02020603050405020304" pitchFamily="18" charset="0"/>
                <a:cs typeface="Times New Roman" panose="02020603050405020304" pitchFamily="18" charset="0"/>
              </a:rPr>
              <a:t> Improving scan visibility for better feature extraction.</a:t>
            </a:r>
          </a:p>
          <a:p>
            <a:pPr lvl="1">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 Augmentation:</a:t>
            </a:r>
            <a:r>
              <a:rPr lang="en-IN" sz="1600" dirty="0">
                <a:latin typeface="Times New Roman" panose="02020603050405020304" pitchFamily="18" charset="0"/>
                <a:cs typeface="Times New Roman" panose="02020603050405020304" pitchFamily="18" charset="0"/>
              </a:rPr>
              <a:t> Rotations, flipping, and zooming to improve model generalization.</a:t>
            </a:r>
          </a:p>
          <a:p>
            <a:pPr lvl="1">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Noise Reduction:</a:t>
            </a:r>
            <a:r>
              <a:rPr lang="en-IN" sz="1600" dirty="0">
                <a:latin typeface="Times New Roman" panose="02020603050405020304" pitchFamily="18" charset="0"/>
                <a:cs typeface="Times New Roman" panose="02020603050405020304" pitchFamily="18" charset="0"/>
              </a:rPr>
              <a:t> Removing artifacts that might mislead the model.</a:t>
            </a:r>
          </a:p>
          <a:p>
            <a:endParaRPr lang="en-IN" dirty="0"/>
          </a:p>
        </p:txBody>
      </p:sp>
    </p:spTree>
    <p:extLst>
      <p:ext uri="{BB962C8B-B14F-4D97-AF65-F5344CB8AC3E}">
        <p14:creationId xmlns:p14="http://schemas.microsoft.com/office/powerpoint/2010/main" val="1543541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96EC8-81AB-5669-EBD8-17D74D17A70C}"/>
              </a:ext>
            </a:extLst>
          </p:cNvPr>
          <p:cNvSpPr>
            <a:spLocks noGrp="1"/>
          </p:cNvSpPr>
          <p:nvPr>
            <p:ph type="title"/>
          </p:nvPr>
        </p:nvSpPr>
        <p:spPr>
          <a:xfrm>
            <a:off x="1002792" y="676623"/>
            <a:ext cx="10515600" cy="1325563"/>
          </a:xfrm>
        </p:spPr>
        <p:txBody>
          <a:bodyPr/>
          <a:lstStyle/>
          <a:p>
            <a:r>
              <a:rPr lang="en-IN" sz="4000" b="1" dirty="0">
                <a:latin typeface="Times New Roman" panose="02020603050405020304" pitchFamily="18" charset="0"/>
                <a:cs typeface="Times New Roman" panose="02020603050405020304" pitchFamily="18" charset="0"/>
              </a:rPr>
              <a:t>PERFORMANCE METRICS</a:t>
            </a:r>
            <a:br>
              <a:rPr lang="en-IN" b="1" dirty="0"/>
            </a:br>
            <a:endParaRPr lang="en-IN" dirty="0"/>
          </a:p>
        </p:txBody>
      </p:sp>
      <p:sp>
        <p:nvSpPr>
          <p:cNvPr id="3" name="Text Placeholder 2">
            <a:extLst>
              <a:ext uri="{FF2B5EF4-FFF2-40B4-BE49-F238E27FC236}">
                <a16:creationId xmlns:a16="http://schemas.microsoft.com/office/drawing/2014/main" id="{93609377-D6B3-47EE-A2FD-F10F65DF7717}"/>
              </a:ext>
            </a:extLst>
          </p:cNvPr>
          <p:cNvSpPr>
            <a:spLocks noGrp="1"/>
          </p:cNvSpPr>
          <p:nvPr>
            <p:ph type="body" idx="1"/>
          </p:nvPr>
        </p:nvSpPr>
        <p:spPr>
          <a:xfrm>
            <a:off x="838200" y="1084961"/>
            <a:ext cx="10515600" cy="4351338"/>
          </a:xfrm>
        </p:spPr>
        <p:txBody>
          <a:bodyPr>
            <a:normAutofit fontScale="85000" lnSpcReduction="20000"/>
          </a:bodyPr>
          <a:lstStyle/>
          <a:p>
            <a:pPr marL="114300" indent="0">
              <a:buNone/>
            </a:pPr>
            <a:endParaRPr lang="en-AU" sz="2000" dirty="0">
              <a:effectLst/>
            </a:endParaRPr>
          </a:p>
          <a:p>
            <a:pPr>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Evaluation Criteria</a:t>
            </a:r>
          </a:p>
          <a:p>
            <a:pPr lvl="1">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Accuracy :</a:t>
            </a:r>
            <a:r>
              <a:rPr lang="en-IN" sz="2000" dirty="0">
                <a:latin typeface="Times New Roman" panose="02020603050405020304" pitchFamily="18" charset="0"/>
                <a:cs typeface="Times New Roman" panose="02020603050405020304" pitchFamily="18" charset="0"/>
              </a:rPr>
              <a:t> 94.2%</a:t>
            </a:r>
          </a:p>
          <a:p>
            <a:pPr lvl="1">
              <a:lnSpc>
                <a:spcPct val="17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Precision :</a:t>
            </a:r>
            <a:r>
              <a:rPr lang="en-IN" sz="2000" dirty="0">
                <a:latin typeface="Times New Roman" panose="02020603050405020304" pitchFamily="18" charset="0"/>
                <a:cs typeface="Times New Roman" panose="02020603050405020304" pitchFamily="18" charset="0"/>
              </a:rPr>
              <a:t> 92.5%</a:t>
            </a:r>
          </a:p>
          <a:p>
            <a:pPr lvl="1">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Recall :</a:t>
            </a:r>
            <a:r>
              <a:rPr lang="en-IN" sz="2000" dirty="0">
                <a:latin typeface="Times New Roman" panose="02020603050405020304" pitchFamily="18" charset="0"/>
                <a:cs typeface="Times New Roman" panose="02020603050405020304" pitchFamily="18" charset="0"/>
              </a:rPr>
              <a:t> 93.7%</a:t>
            </a:r>
          </a:p>
          <a:p>
            <a:pPr lvl="1">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F1-Score :</a:t>
            </a:r>
            <a:r>
              <a:rPr lang="en-IN" sz="2000" dirty="0">
                <a:latin typeface="Times New Roman" panose="02020603050405020304" pitchFamily="18" charset="0"/>
                <a:cs typeface="Times New Roman" panose="02020603050405020304" pitchFamily="18" charset="0"/>
              </a:rPr>
              <a:t> 93.1%</a:t>
            </a:r>
          </a:p>
          <a:p>
            <a:pPr>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Model Results</a:t>
            </a:r>
          </a:p>
          <a:p>
            <a:pPr lvl="1">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Training Accuracy :</a:t>
            </a:r>
            <a:r>
              <a:rPr lang="en-IN" sz="2000" dirty="0">
                <a:latin typeface="Times New Roman" panose="02020603050405020304" pitchFamily="18" charset="0"/>
                <a:cs typeface="Times New Roman" panose="02020603050405020304" pitchFamily="18" charset="0"/>
              </a:rPr>
              <a:t> 94.2%</a:t>
            </a:r>
          </a:p>
          <a:p>
            <a:pPr lvl="1">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Validation Accuracy :</a:t>
            </a:r>
            <a:r>
              <a:rPr lang="en-IN" sz="2000" dirty="0">
                <a:latin typeface="Times New Roman" panose="02020603050405020304" pitchFamily="18" charset="0"/>
                <a:cs typeface="Times New Roman" panose="02020603050405020304" pitchFamily="18" charset="0"/>
              </a:rPr>
              <a:t> 92.8%</a:t>
            </a:r>
          </a:p>
          <a:p>
            <a:pPr lvl="1">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Confusion Matrix Analysis :</a:t>
            </a:r>
            <a:r>
              <a:rPr lang="en-IN" sz="2000" dirty="0">
                <a:latin typeface="Times New Roman" panose="02020603050405020304" pitchFamily="18" charset="0"/>
                <a:cs typeface="Times New Roman" panose="02020603050405020304" pitchFamily="18" charset="0"/>
              </a:rPr>
              <a:t> Shows misclassifications and areas for improvement.</a:t>
            </a:r>
          </a:p>
          <a:p>
            <a:endParaRPr lang="en-IN" dirty="0"/>
          </a:p>
        </p:txBody>
      </p:sp>
    </p:spTree>
    <p:extLst>
      <p:ext uri="{BB962C8B-B14F-4D97-AF65-F5344CB8AC3E}">
        <p14:creationId xmlns:p14="http://schemas.microsoft.com/office/powerpoint/2010/main" val="666879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1302-EBB4-D2CA-8449-D6B7BF6F0DEA}"/>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PROCEDURE:</a:t>
            </a:r>
            <a:endParaRPr lang="en-IN"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B3765B0-7550-4838-1B53-DF0E7B9D5ABA}"/>
              </a:ext>
            </a:extLst>
          </p:cNvPr>
          <p:cNvSpPr>
            <a:spLocks noGrp="1"/>
          </p:cNvSpPr>
          <p:nvPr>
            <p:ph type="body" idx="1"/>
          </p:nvPr>
        </p:nvSpPr>
        <p:spPr/>
        <p:txBody>
          <a:bodyPr>
            <a:normAutofit/>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Importing the Image Dataset : </a:t>
            </a:r>
            <a:r>
              <a:rPr lang="en-US" sz="1800" dirty="0">
                <a:latin typeface="Times New Roman" panose="02020603050405020304" pitchFamily="18" charset="0"/>
                <a:cs typeface="Times New Roman" panose="02020603050405020304" pitchFamily="18" charset="0"/>
              </a:rPr>
              <a:t>We import the dataset using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ImageDataGenerator</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function, which helps preprocess the images before training. During this process, we apply various transformations such as </a:t>
            </a:r>
            <a:r>
              <a:rPr lang="en-US" sz="1800" b="1" dirty="0">
                <a:latin typeface="Times New Roman" panose="02020603050405020304" pitchFamily="18" charset="0"/>
                <a:cs typeface="Times New Roman" panose="02020603050405020304" pitchFamily="18" charset="0"/>
              </a:rPr>
              <a:t>rescaling, resizing, zooming, and horizontal flipping</a:t>
            </a:r>
            <a:r>
              <a:rPr lang="en-US" sz="1800" dirty="0">
                <a:latin typeface="Times New Roman" panose="02020603050405020304" pitchFamily="18" charset="0"/>
                <a:cs typeface="Times New Roman" panose="02020603050405020304" pitchFamily="18" charset="0"/>
              </a:rPr>
              <a:t> to enhance the model's generalization.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dataset is loaded from a specified folder using the data generator function, where we define </a:t>
            </a:r>
            <a:r>
              <a:rPr lang="en-US" sz="1800" b="1" dirty="0">
                <a:latin typeface="Times New Roman" panose="02020603050405020304" pitchFamily="18" charset="0"/>
                <a:cs typeface="Times New Roman" panose="02020603050405020304" pitchFamily="18" charset="0"/>
              </a:rPr>
              <a:t>training, testing, and validation sets</a:t>
            </a:r>
            <a:r>
              <a:rPr lang="en-US" sz="1800" dirty="0">
                <a:latin typeface="Times New Roman" panose="02020603050405020304" pitchFamily="18" charset="0"/>
                <a:cs typeface="Times New Roman" panose="02020603050405020304" pitchFamily="18" charset="0"/>
              </a:rPr>
              <a:t>. Additionally, we specify parameters like </a:t>
            </a:r>
            <a:r>
              <a:rPr lang="en-US" sz="1800" b="1" dirty="0">
                <a:latin typeface="Times New Roman" panose="02020603050405020304" pitchFamily="18" charset="0"/>
                <a:cs typeface="Times New Roman" panose="02020603050405020304" pitchFamily="18" charset="0"/>
              </a:rPr>
              <a:t>target size, batch size, and class mode</a:t>
            </a:r>
            <a:r>
              <a:rPr lang="en-US" sz="1800" dirty="0">
                <a:latin typeface="Times New Roman" panose="02020603050405020304" pitchFamily="18" charset="0"/>
                <a:cs typeface="Times New Roman" panose="02020603050405020304" pitchFamily="18" charset="0"/>
              </a:rPr>
              <a:t> to ensure proper data processing. This preprocessed data is then used to train our custom CNN model by adding multiple layers for feature extraction and classification.</a:t>
            </a:r>
          </a:p>
          <a:p>
            <a:pPr>
              <a:lnSpc>
                <a:spcPct val="150000"/>
              </a:lnSpc>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5376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4C4E9-E453-0B37-D813-39446C510C77}"/>
              </a:ext>
            </a:extLst>
          </p:cNvPr>
          <p:cNvSpPr>
            <a:spLocks noGrp="1"/>
          </p:cNvSpPr>
          <p:nvPr>
            <p:ph type="title"/>
          </p:nvPr>
        </p:nvSpPr>
        <p:spPr>
          <a:xfrm>
            <a:off x="1414272" y="365125"/>
            <a:ext cx="10515600" cy="1325563"/>
          </a:xfrm>
        </p:spPr>
        <p:txBody>
          <a:bodyPr/>
          <a:lstStyle/>
          <a:p>
            <a:r>
              <a:rPr lang="en-IN" b="1" dirty="0">
                <a:latin typeface="Times New Roman" panose="02020603050405020304" pitchFamily="18" charset="0"/>
                <a:cs typeface="Times New Roman" panose="02020603050405020304" pitchFamily="18" charset="0"/>
              </a:rPr>
              <a:t>OUTPUT SCREENSHOT</a:t>
            </a:r>
          </a:p>
        </p:txBody>
      </p:sp>
      <p:pic>
        <p:nvPicPr>
          <p:cNvPr id="4" name="Picture 3">
            <a:extLst>
              <a:ext uri="{FF2B5EF4-FFF2-40B4-BE49-F238E27FC236}">
                <a16:creationId xmlns:a16="http://schemas.microsoft.com/office/drawing/2014/main" id="{BF5B00C9-90A5-640C-1A5A-887B4CCFA532}"/>
              </a:ext>
            </a:extLst>
          </p:cNvPr>
          <p:cNvPicPr/>
          <p:nvPr/>
        </p:nvPicPr>
        <p:blipFill>
          <a:blip r:embed="rId2"/>
          <a:stretch>
            <a:fillRect/>
          </a:stretch>
        </p:blipFill>
        <p:spPr>
          <a:xfrm>
            <a:off x="1480768" y="1690688"/>
            <a:ext cx="8946541" cy="4195480"/>
          </a:xfrm>
          <a:prstGeom prst="rect">
            <a:avLst/>
          </a:prstGeom>
        </p:spPr>
      </p:pic>
    </p:spTree>
    <p:extLst>
      <p:ext uri="{BB962C8B-B14F-4D97-AF65-F5344CB8AC3E}">
        <p14:creationId xmlns:p14="http://schemas.microsoft.com/office/powerpoint/2010/main" val="3069476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txBox="1">
            <a:spLocks noGrp="1"/>
          </p:cNvSpPr>
          <p:nvPr>
            <p:ph type="title"/>
          </p:nvPr>
        </p:nvSpPr>
        <p:spPr>
          <a:xfrm>
            <a:off x="1295400" y="83406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CONCLUSION</a:t>
            </a:r>
            <a:endParaRPr b="1" dirty="0"/>
          </a:p>
        </p:txBody>
      </p:sp>
      <p:sp>
        <p:nvSpPr>
          <p:cNvPr id="156" name="Google Shape;156;p13"/>
          <p:cNvSpPr txBox="1">
            <a:spLocks noGrp="1"/>
          </p:cNvSpPr>
          <p:nvPr>
            <p:ph type="body" idx="1"/>
          </p:nvPr>
        </p:nvSpPr>
        <p:spPr>
          <a:xfrm>
            <a:off x="838200" y="1894451"/>
            <a:ext cx="10515600" cy="4351338"/>
          </a:xfrm>
          <a:prstGeom prst="rect">
            <a:avLst/>
          </a:prstGeom>
          <a:noFill/>
          <a:ln>
            <a:noFill/>
          </a:ln>
        </p:spPr>
        <p:txBody>
          <a:bodyPr spcFirstLastPara="1" wrap="square" lIns="91425" tIns="45700" rIns="91425" bIns="45700" anchor="t" anchorCtr="0">
            <a:normAutofit fontScale="70000" lnSpcReduction="20000"/>
          </a:bodyPr>
          <a:lstStyle/>
          <a:p>
            <a:pPr>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this project, we developed a </a:t>
            </a:r>
            <a:r>
              <a:rPr lang="en-US" sz="2400" b="1" dirty="0">
                <a:latin typeface="Times New Roman" panose="02020603050405020304" pitchFamily="18" charset="0"/>
                <a:cs typeface="Times New Roman" panose="02020603050405020304" pitchFamily="18" charset="0"/>
              </a:rPr>
              <a:t>working prototype website</a:t>
            </a:r>
            <a:r>
              <a:rPr lang="en-US" sz="2400" dirty="0">
                <a:latin typeface="Times New Roman" panose="02020603050405020304" pitchFamily="18" charset="0"/>
                <a:cs typeface="Times New Roman" panose="02020603050405020304" pitchFamily="18" charset="0"/>
              </a:rPr>
              <a:t> for macular OCT disease classification using a CNN-based model. Our system automates the detection of macular abnormalities, providing an efficient and accessible solution for early diagnosis.</a:t>
            </a:r>
          </a:p>
          <a:p>
            <a:pPr>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website integrates </a:t>
            </a:r>
            <a:r>
              <a:rPr lang="en-US" sz="2400" b="1" dirty="0">
                <a:latin typeface="Times New Roman" panose="02020603050405020304" pitchFamily="18" charset="0"/>
                <a:cs typeface="Times New Roman" panose="02020603050405020304" pitchFamily="18" charset="0"/>
              </a:rPr>
              <a:t>image processing, deep learning classification, and a user-friendly interface</a:t>
            </a:r>
            <a:r>
              <a:rPr lang="en-US" sz="2400" dirty="0">
                <a:latin typeface="Times New Roman" panose="02020603050405020304" pitchFamily="18" charset="0"/>
                <a:cs typeface="Times New Roman" panose="02020603050405020304" pitchFamily="18" charset="0"/>
              </a:rPr>
              <a:t>, allowing healthcare professionals to analyze OCT scans quickly. The CNN model successfully classifies macular diseases with </a:t>
            </a:r>
            <a:r>
              <a:rPr lang="en-US" sz="2400" b="1" dirty="0">
                <a:latin typeface="Times New Roman" panose="02020603050405020304" pitchFamily="18" charset="0"/>
                <a:cs typeface="Times New Roman" panose="02020603050405020304" pitchFamily="18" charset="0"/>
              </a:rPr>
              <a:t>high accuracy</a:t>
            </a:r>
            <a:r>
              <a:rPr lang="en-US" sz="2400" dirty="0">
                <a:latin typeface="Times New Roman" panose="02020603050405020304" pitchFamily="18" charset="0"/>
                <a:cs typeface="Times New Roman" panose="02020603050405020304" pitchFamily="18" charset="0"/>
              </a:rPr>
              <a:t>, demonstrating the potential of AI in medical diagnostics.</a:t>
            </a:r>
          </a:p>
          <a:p>
            <a:pPr>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Future improvements could include </a:t>
            </a:r>
            <a:r>
              <a:rPr lang="en-US" sz="2400" b="1" dirty="0">
                <a:latin typeface="Times New Roman" panose="02020603050405020304" pitchFamily="18" charset="0"/>
                <a:cs typeface="Times New Roman" panose="02020603050405020304" pitchFamily="18" charset="0"/>
              </a:rPr>
              <a:t>enhancing the model with larger datasets, optimizing performance for real-time classification, and integrating it with hospital systems</a:t>
            </a:r>
            <a:r>
              <a:rPr lang="en-US" sz="2400" dirty="0">
                <a:latin typeface="Times New Roman" panose="02020603050405020304" pitchFamily="18" charset="0"/>
                <a:cs typeface="Times New Roman" panose="02020603050405020304" pitchFamily="18" charset="0"/>
              </a:rPr>
              <a:t> for wider accessibility. Our work contributes to the advancement of AI-driven ophthalmic diagnosis, making early disease detection more reliable and scalable.</a:t>
            </a:r>
          </a:p>
          <a:p>
            <a:pPr marL="0" lvl="0" indent="0" algn="just" rtl="0">
              <a:lnSpc>
                <a:spcPct val="90000"/>
              </a:lnSpc>
              <a:spcBef>
                <a:spcPts val="1000"/>
              </a:spcBef>
              <a:spcAft>
                <a:spcPts val="0"/>
              </a:spcAft>
              <a:buClr>
                <a:schemeClr val="dk1"/>
              </a:buClr>
              <a:buSzPct val="100000"/>
              <a:buNone/>
            </a:pPr>
            <a:endParaRPr dirty="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0B3D6-180B-280D-49DB-134A3D4558CC}"/>
              </a:ext>
            </a:extLst>
          </p:cNvPr>
          <p:cNvSpPr>
            <a:spLocks noGrp="1"/>
          </p:cNvSpPr>
          <p:nvPr>
            <p:ph type="title"/>
          </p:nvPr>
        </p:nvSpPr>
        <p:spPr/>
        <p:txBody>
          <a:bodyPr>
            <a:normAutofit/>
          </a:bodyPr>
          <a:lstStyle/>
          <a:p>
            <a:r>
              <a:rPr lang="en-AU" sz="4000" b="1" dirty="0">
                <a:latin typeface="Times New Roman" panose="02020603050405020304" pitchFamily="18" charset="0"/>
                <a:cs typeface="Times New Roman" panose="02020603050405020304" pitchFamily="18" charset="0"/>
              </a:rPr>
              <a:t>FUTURE WORK</a:t>
            </a:r>
            <a:endParaRPr lang="en-IN" sz="40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71F66C5-EC9F-4394-963F-9A8F370D9E4B}"/>
              </a:ext>
            </a:extLst>
          </p:cNvPr>
          <p:cNvSpPr>
            <a:spLocks noGrp="1" noChangeArrowheads="1"/>
          </p:cNvSpPr>
          <p:nvPr>
            <p:ph type="body" idx="1"/>
          </p:nvPr>
        </p:nvSpPr>
        <p:spPr bwMode="auto">
          <a:xfrm>
            <a:off x="728472" y="1603548"/>
            <a:ext cx="998863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Testing on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more diverse datasets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better generalization.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Deploying as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diagnostic tool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integrated into clinical settings.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Exploring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AI models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combining CNN with Transformer architectures.</a:t>
            </a:r>
          </a:p>
        </p:txBody>
      </p:sp>
    </p:spTree>
    <p:extLst>
      <p:ext uri="{BB962C8B-B14F-4D97-AF65-F5344CB8AC3E}">
        <p14:creationId xmlns:p14="http://schemas.microsoft.com/office/powerpoint/2010/main" val="2223239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4"/>
          <p:cNvSpPr txBox="1">
            <a:spLocks noGrp="1"/>
          </p:cNvSpPr>
          <p:nvPr>
            <p:ph type="title"/>
          </p:nvPr>
        </p:nvSpPr>
        <p:spPr>
          <a:xfrm>
            <a:off x="716911" y="0"/>
            <a:ext cx="9073055" cy="78050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Times New Roman"/>
              <a:buNone/>
            </a:pPr>
            <a:r>
              <a:rPr lang="en-IN" sz="4000" dirty="0">
                <a:latin typeface="Times New Roman"/>
                <a:ea typeface="Times New Roman"/>
                <a:cs typeface="Times New Roman"/>
                <a:sym typeface="Times New Roman"/>
              </a:rPr>
              <a:t> </a:t>
            </a:r>
            <a:r>
              <a:rPr lang="en-IN" sz="4000" b="1" dirty="0">
                <a:latin typeface="Times New Roman"/>
                <a:ea typeface="Times New Roman"/>
                <a:cs typeface="Times New Roman"/>
                <a:sym typeface="Times New Roman"/>
              </a:rPr>
              <a:t>REFERENCE</a:t>
            </a:r>
            <a:endParaRPr sz="4000" b="1" dirty="0"/>
          </a:p>
        </p:txBody>
      </p:sp>
      <p:sp>
        <p:nvSpPr>
          <p:cNvPr id="162" name="Google Shape;162;p14"/>
          <p:cNvSpPr txBox="1">
            <a:spLocks noGrp="1"/>
          </p:cNvSpPr>
          <p:nvPr>
            <p:ph type="body" idx="1"/>
          </p:nvPr>
        </p:nvSpPr>
        <p:spPr>
          <a:xfrm>
            <a:off x="511629" y="664030"/>
            <a:ext cx="11451771" cy="6019800"/>
          </a:xfrm>
          <a:prstGeom prst="rect">
            <a:avLst/>
          </a:prstGeom>
          <a:noFill/>
          <a:ln>
            <a:noFill/>
          </a:ln>
        </p:spPr>
        <p:txBody>
          <a:bodyPr spcFirstLastPara="1" wrap="square" lIns="91425" tIns="45700" rIns="91425" bIns="45700" anchor="t" anchorCtr="0">
            <a:noAutofit/>
          </a:bodyPr>
          <a:lstStyle/>
          <a:p>
            <a:pPr marL="342900" lvl="0" algn="l" rtl="0">
              <a:lnSpc>
                <a:spcPct val="90000"/>
              </a:lnSpc>
              <a:spcBef>
                <a:spcPts val="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Noor B. Khalaf; Hadeel K. </a:t>
            </a:r>
            <a:r>
              <a:rPr lang="en-IN" sz="1350" dirty="0" err="1">
                <a:latin typeface="Times New Roman"/>
                <a:ea typeface="Times New Roman"/>
                <a:cs typeface="Times New Roman"/>
                <a:sym typeface="Times New Roman"/>
              </a:rPr>
              <a:t>Aljobouri</a:t>
            </a:r>
            <a:r>
              <a:rPr lang="en-IN" sz="1350" dirty="0">
                <a:latin typeface="Times New Roman"/>
                <a:ea typeface="Times New Roman"/>
                <a:cs typeface="Times New Roman"/>
                <a:sym typeface="Times New Roman"/>
              </a:rPr>
              <a:t>; Mohammed </a:t>
            </a:r>
            <a:r>
              <a:rPr lang="en-IN" sz="1350" dirty="0" err="1">
                <a:latin typeface="Times New Roman"/>
                <a:ea typeface="Times New Roman"/>
                <a:cs typeface="Times New Roman"/>
                <a:sym typeface="Times New Roman"/>
              </a:rPr>
              <a:t>S.Najim</a:t>
            </a:r>
            <a:r>
              <a:rPr lang="en-IN" sz="1350" dirty="0">
                <a:latin typeface="Times New Roman"/>
                <a:ea typeface="Times New Roman"/>
                <a:cs typeface="Times New Roman"/>
                <a:sym typeface="Times New Roman"/>
              </a:rPr>
              <a:t>,” Identification and Classification of Retinal Diseases by Using Deep Learning Models”, 2023 International Conference on Smart Applications, Communications and Networking (</a:t>
            </a:r>
            <a:r>
              <a:rPr lang="en-IN" sz="1350" dirty="0" err="1">
                <a:latin typeface="Times New Roman"/>
                <a:ea typeface="Times New Roman"/>
                <a:cs typeface="Times New Roman"/>
                <a:sym typeface="Times New Roman"/>
              </a:rPr>
              <a:t>SmartNets</a:t>
            </a:r>
            <a:r>
              <a:rPr lang="en-IN" sz="1350" dirty="0">
                <a:latin typeface="Times New Roman"/>
                <a:ea typeface="Times New Roman"/>
                <a:cs typeface="Times New Roman"/>
                <a:sym typeface="Times New Roman"/>
              </a:rPr>
              <a:t>), 10.1109/SmartNets58706.2023.10215740, 25-27 July 2023</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Bino. N; Sheeba O,” A Review on Imaging Techniques and Algorithms for the Detection of Central Serous Retinopathy”, 2021 5th International Conference on Computing Methodologies and Communication (ICCMC), 10.1109/ICCMC51019.2021.9418239, 08-10 April 2021</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Abhinav Sharma; Akshay Vijay Khanna; Muskaan Bhargava;” Multi-label classification of Retinal Disorders in Optical Coherence Tomography using Deep Learning”, 2021 Second International Conference on Electronics and Sustainable Communication Systems(ICESC), 10.1109/ICESC51422.2021.9532711, 04-06 August 2021</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err="1">
                <a:latin typeface="Times New Roman"/>
                <a:ea typeface="Times New Roman"/>
                <a:cs typeface="Times New Roman"/>
                <a:sym typeface="Times New Roman"/>
              </a:rPr>
              <a:t>Suvajit</a:t>
            </a:r>
            <a:r>
              <a:rPr lang="en-IN" sz="1350" dirty="0">
                <a:latin typeface="Times New Roman"/>
                <a:ea typeface="Times New Roman"/>
                <a:cs typeface="Times New Roman"/>
                <a:sym typeface="Times New Roman"/>
              </a:rPr>
              <a:t> Dutta, </a:t>
            </a:r>
            <a:r>
              <a:rPr lang="en-IN" sz="1350" dirty="0" err="1">
                <a:latin typeface="Times New Roman"/>
                <a:ea typeface="Times New Roman"/>
                <a:cs typeface="Times New Roman"/>
                <a:sym typeface="Times New Roman"/>
              </a:rPr>
              <a:t>Bonthala</a:t>
            </a:r>
            <a:r>
              <a:rPr lang="en-IN" sz="1350" dirty="0">
                <a:latin typeface="Times New Roman"/>
                <a:ea typeface="Times New Roman"/>
                <a:cs typeface="Times New Roman"/>
                <a:sym typeface="Times New Roman"/>
              </a:rPr>
              <a:t> CS Manideep, Syed Muzamil Basha,” Classification of Diabetic Retinopathy Images by Using Deep Learning Models”, 2023 International Conference on Sustainable Communication Networks and Application (ICSCNA),2022</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err="1">
                <a:latin typeface="Times New Roman"/>
                <a:ea typeface="Times New Roman"/>
                <a:cs typeface="Times New Roman"/>
                <a:sym typeface="Times New Roman"/>
              </a:rPr>
              <a:t>Hongyang</a:t>
            </a:r>
            <a:r>
              <a:rPr lang="en-IN" sz="1350" dirty="0">
                <a:latin typeface="Times New Roman"/>
                <a:ea typeface="Times New Roman"/>
                <a:cs typeface="Times New Roman"/>
                <a:sym typeface="Times New Roman"/>
              </a:rPr>
              <a:t> Jiang; Kang Yang; </a:t>
            </a:r>
            <a:r>
              <a:rPr lang="en-IN" sz="1350" dirty="0" err="1">
                <a:latin typeface="Times New Roman"/>
                <a:ea typeface="Times New Roman"/>
                <a:cs typeface="Times New Roman"/>
                <a:sym typeface="Times New Roman"/>
              </a:rPr>
              <a:t>Mengdi</a:t>
            </a:r>
            <a:r>
              <a:rPr lang="en-IN" sz="1350" dirty="0">
                <a:latin typeface="Times New Roman"/>
                <a:ea typeface="Times New Roman"/>
                <a:cs typeface="Times New Roman"/>
                <a:sym typeface="Times New Roman"/>
              </a:rPr>
              <a:t> Gao; </a:t>
            </a:r>
            <a:r>
              <a:rPr lang="en-IN" sz="1350" dirty="0" err="1">
                <a:latin typeface="Times New Roman"/>
                <a:ea typeface="Times New Roman"/>
                <a:cs typeface="Times New Roman"/>
                <a:sym typeface="Times New Roman"/>
              </a:rPr>
              <a:t>Dongdong</a:t>
            </a:r>
            <a:r>
              <a:rPr lang="en-IN" sz="1350" dirty="0">
                <a:latin typeface="Times New Roman"/>
                <a:ea typeface="Times New Roman"/>
                <a:cs typeface="Times New Roman"/>
                <a:sym typeface="Times New Roman"/>
              </a:rPr>
              <a:t> Zhang; He Ma; Wei Qian,” An Interpretable Ensemble Deep Learning Model for Diabetic Retinopathy Disease Classification”, 2019 41st Annual International Conference of the IEEE Engineering in Medicine and Biology Society (EMBC), 10.1109/EMBC.2019.8857160, 23-27 July 2019</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Hoe Yean Sam; Sayed Ahmad Zikri B Sayed </a:t>
            </a:r>
            <a:r>
              <a:rPr lang="en-IN" sz="1350" dirty="0" err="1">
                <a:latin typeface="Times New Roman"/>
                <a:ea typeface="Times New Roman"/>
                <a:cs typeface="Times New Roman"/>
                <a:sym typeface="Times New Roman"/>
              </a:rPr>
              <a:t>Aluwee</a:t>
            </a:r>
            <a:r>
              <a:rPr lang="en-IN" sz="1350" dirty="0">
                <a:latin typeface="Times New Roman"/>
                <a:ea typeface="Times New Roman"/>
                <a:cs typeface="Times New Roman"/>
                <a:sym typeface="Times New Roman"/>
              </a:rPr>
              <a:t>; Nur </a:t>
            </a:r>
            <a:r>
              <a:rPr lang="en-IN" sz="1350" dirty="0" err="1">
                <a:latin typeface="Times New Roman"/>
                <a:ea typeface="Times New Roman"/>
                <a:cs typeface="Times New Roman"/>
                <a:sym typeface="Times New Roman"/>
              </a:rPr>
              <a:t>Syadhila</a:t>
            </a:r>
            <a:r>
              <a:rPr lang="en-IN" sz="1350" dirty="0">
                <a:latin typeface="Times New Roman"/>
                <a:ea typeface="Times New Roman"/>
                <a:cs typeface="Times New Roman"/>
                <a:sym typeface="Times New Roman"/>
              </a:rPr>
              <a:t> </a:t>
            </a:r>
            <a:r>
              <a:rPr lang="en-IN" sz="1350" dirty="0" err="1">
                <a:latin typeface="Times New Roman"/>
                <a:ea typeface="Times New Roman"/>
                <a:cs typeface="Times New Roman"/>
                <a:sym typeface="Times New Roman"/>
              </a:rPr>
              <a:t>Bt</a:t>
            </a:r>
            <a:r>
              <a:rPr lang="en-IN" sz="1350" dirty="0">
                <a:latin typeface="Times New Roman"/>
                <a:ea typeface="Times New Roman"/>
                <a:cs typeface="Times New Roman"/>
                <a:sym typeface="Times New Roman"/>
              </a:rPr>
              <a:t> Che Lah; C.M. Goh; “Preliminary Study of Diabetic Retinopathy Classification from Fundus Images Using Deep Learning Model”, 2022 3rd International Conference on Artificial Intelligence and Data Sciences (</a:t>
            </a:r>
            <a:r>
              <a:rPr lang="en-IN" sz="1350" dirty="0" err="1">
                <a:latin typeface="Times New Roman"/>
                <a:ea typeface="Times New Roman"/>
                <a:cs typeface="Times New Roman"/>
                <a:sym typeface="Times New Roman"/>
              </a:rPr>
              <a:t>AiDAS</a:t>
            </a:r>
            <a:r>
              <a:rPr lang="en-IN" sz="1350" dirty="0">
                <a:latin typeface="Times New Roman"/>
                <a:ea typeface="Times New Roman"/>
                <a:cs typeface="Times New Roman"/>
                <a:sym typeface="Times New Roman"/>
              </a:rPr>
              <a:t>), 10.1109/AiDAS56890.2022.9918681, 07-08 September 2022</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Umma Kulsum </a:t>
            </a:r>
            <a:r>
              <a:rPr lang="en-IN" sz="1350" dirty="0" err="1">
                <a:latin typeface="Times New Roman"/>
                <a:ea typeface="Times New Roman"/>
                <a:cs typeface="Times New Roman"/>
                <a:sym typeface="Times New Roman"/>
              </a:rPr>
              <a:t>Shrabony</a:t>
            </a:r>
            <a:r>
              <a:rPr lang="en-IN" sz="1350" dirty="0">
                <a:latin typeface="Times New Roman"/>
                <a:ea typeface="Times New Roman"/>
                <a:cs typeface="Times New Roman"/>
                <a:sym typeface="Times New Roman"/>
              </a:rPr>
              <a:t>; Md. Sabbir Ejaz;” Early Identification of Diabetic Retinopathy Using Deep Learning Model: A Survey”, 2022 International Conference on Recent Progresses in Science, Engineering and Technology (ICRPSET),10.1109/ICRPSET57982.2022.10188565,26-27 December 2022</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err="1">
                <a:latin typeface="Times New Roman"/>
                <a:ea typeface="Times New Roman"/>
                <a:cs typeface="Times New Roman"/>
                <a:sym typeface="Times New Roman"/>
              </a:rPr>
              <a:t>Abini</a:t>
            </a:r>
            <a:r>
              <a:rPr lang="en-IN" sz="1350" dirty="0">
                <a:latin typeface="Times New Roman"/>
                <a:ea typeface="Times New Roman"/>
                <a:cs typeface="Times New Roman"/>
                <a:sym typeface="Times New Roman"/>
              </a:rPr>
              <a:t> M.A.; S. Sridevi Sathya Priya,” A Deep Learning Framework for Detection and Classification of Diabetic Retinopathy in Fundus Images Using Residual Neural Networks”, 2023 9th International Conference on Smart Computing and Communications(ICSCC), 10.1109/ICSCC59169.2023.10335079,17-19 August 2023</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D. Raghu Raman; S. Nishanthi; P. </a:t>
            </a:r>
            <a:r>
              <a:rPr lang="en-IN" sz="1350" dirty="0" err="1">
                <a:latin typeface="Times New Roman"/>
                <a:ea typeface="Times New Roman"/>
                <a:cs typeface="Times New Roman"/>
                <a:sym typeface="Times New Roman"/>
              </a:rPr>
              <a:t>Babysha</a:t>
            </a:r>
            <a:r>
              <a:rPr lang="en-IN" sz="1350" dirty="0">
                <a:latin typeface="Times New Roman"/>
                <a:ea typeface="Times New Roman"/>
                <a:cs typeface="Times New Roman"/>
                <a:sym typeface="Times New Roman"/>
              </a:rPr>
              <a:t>,” Diagnosis of Diabetic Retinopathy by using EfficientNet-B7 CNN Architecture in Deep Learning”, 2023 International Conference on Sustainable Computing and Smart Systems (ICSCSS), 10.1109/ICSCSS57650.2023.10169453, 14-16 June 2023</a:t>
            </a:r>
            <a:endParaRPr sz="1350" dirty="0"/>
          </a:p>
          <a:p>
            <a:pPr marL="342900" lvl="0" algn="l" rtl="0">
              <a:lnSpc>
                <a:spcPct val="90000"/>
              </a:lnSpc>
              <a:spcBef>
                <a:spcPts val="1000"/>
              </a:spcBef>
              <a:spcAft>
                <a:spcPts val="0"/>
              </a:spcAft>
              <a:buClr>
                <a:schemeClr val="dk1"/>
              </a:buClr>
              <a:buSzPts val="1400"/>
              <a:buFont typeface="+mj-lt"/>
              <a:buAutoNum type="arabicPeriod"/>
            </a:pPr>
            <a:r>
              <a:rPr lang="en-IN" sz="1350" dirty="0">
                <a:latin typeface="Times New Roman"/>
                <a:ea typeface="Times New Roman"/>
                <a:cs typeface="Times New Roman"/>
                <a:sym typeface="Times New Roman"/>
              </a:rPr>
              <a:t>Nandhini S; </a:t>
            </a:r>
            <a:r>
              <a:rPr lang="en-IN" sz="1350" dirty="0" err="1">
                <a:latin typeface="Times New Roman"/>
                <a:ea typeface="Times New Roman"/>
                <a:cs typeface="Times New Roman"/>
                <a:sym typeface="Times New Roman"/>
              </a:rPr>
              <a:t>Sowbarnikkaa</a:t>
            </a:r>
            <a:r>
              <a:rPr lang="en-IN" sz="1350" dirty="0">
                <a:latin typeface="Times New Roman"/>
                <a:ea typeface="Times New Roman"/>
                <a:cs typeface="Times New Roman"/>
                <a:sym typeface="Times New Roman"/>
              </a:rPr>
              <a:t> S; Mageshwari J; Saraswathy C,” An Automated Detection and Multi- stage classification of Diabetic Retinopathy using Convolutional Neural Networks”, 2023 2</a:t>
            </a:r>
            <a:r>
              <a:rPr lang="en-IN" sz="1350" baseline="30000" dirty="0">
                <a:latin typeface="Times New Roman"/>
                <a:ea typeface="Times New Roman"/>
                <a:cs typeface="Times New Roman"/>
                <a:sym typeface="Times New Roman"/>
              </a:rPr>
              <a:t>nd</a:t>
            </a:r>
            <a:r>
              <a:rPr lang="en-IN" sz="1350" dirty="0">
                <a:latin typeface="Times New Roman"/>
                <a:ea typeface="Times New Roman"/>
                <a:cs typeface="Times New Roman"/>
                <a:sym typeface="Times New Roman"/>
              </a:rPr>
              <a:t> International Conference on Vision Towards Emerging Trends in Communication and Networking Technologies (</a:t>
            </a:r>
            <a:r>
              <a:rPr lang="en-IN" sz="1350" dirty="0" err="1">
                <a:latin typeface="Times New Roman"/>
                <a:ea typeface="Times New Roman"/>
                <a:cs typeface="Times New Roman"/>
                <a:sym typeface="Times New Roman"/>
              </a:rPr>
              <a:t>ViTECoN</a:t>
            </a:r>
            <a:r>
              <a:rPr lang="en-IN" sz="1350" dirty="0">
                <a:latin typeface="Times New Roman"/>
                <a:ea typeface="Times New Roman"/>
                <a:cs typeface="Times New Roman"/>
                <a:sym typeface="Times New Roman"/>
              </a:rPr>
              <a:t>), 10.1109/ViTECoN58111.2023.10157960, 05-06 May 2023</a:t>
            </a:r>
            <a:endParaRPr sz="1350" dirty="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2557</Words>
  <Application>Microsoft Office PowerPoint</Application>
  <PresentationFormat>Widescreen</PresentationFormat>
  <Paragraphs>172</Paragraphs>
  <Slides>22</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Noto Sans Symbols</vt:lpstr>
      <vt:lpstr>Times New Roman</vt:lpstr>
      <vt:lpstr>Wingdings</vt:lpstr>
      <vt:lpstr>Office Theme</vt:lpstr>
      <vt:lpstr>DISEASE CLASSIFICATION OF MACULA OCT SCANS USING CNN</vt:lpstr>
      <vt:lpstr>ABSTRACT</vt:lpstr>
      <vt:lpstr>LITERATURE SURVEY</vt:lpstr>
      <vt:lpstr>PowerPoint Presentation</vt:lpstr>
      <vt:lpstr>PowerPoint Presentation</vt:lpstr>
      <vt:lpstr>PowerPoint Presentation</vt:lpstr>
      <vt:lpstr>OBJECTIVE</vt:lpstr>
      <vt:lpstr>EXISTING SYSTEM</vt:lpstr>
      <vt:lpstr>PROPOSED SYSTEM</vt:lpstr>
      <vt:lpstr>SOFTWARE REQURIEMENTS</vt:lpstr>
      <vt:lpstr>ARCHITECTURE DIAGRAM </vt:lpstr>
      <vt:lpstr>USECASE DIAGRAM</vt:lpstr>
      <vt:lpstr>CLASS DIAGRAM</vt:lpstr>
      <vt:lpstr>ER DIAGRAM</vt:lpstr>
      <vt:lpstr>CNN ARCHITECTURE </vt:lpstr>
      <vt:lpstr>DATASET &amp; PREPROCESSING</vt:lpstr>
      <vt:lpstr>PERFORMANCE METRICS </vt:lpstr>
      <vt:lpstr>PROCEDURE:</vt:lpstr>
      <vt:lpstr>OUTPUT SCREENSHOT</vt:lpstr>
      <vt:lpstr>CONCLUSION</vt:lpstr>
      <vt:lpstr>FUTURE WORK</vt:lpstr>
      <vt:lpstr> 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Jeswin Joseph J</dc:creator>
  <cp:lastModifiedBy>Karneesh V</cp:lastModifiedBy>
  <cp:revision>4</cp:revision>
  <dcterms:created xsi:type="dcterms:W3CDTF">2025-01-09T03:34:39Z</dcterms:created>
  <dcterms:modified xsi:type="dcterms:W3CDTF">2025-04-02T17:25:48Z</dcterms:modified>
</cp:coreProperties>
</file>